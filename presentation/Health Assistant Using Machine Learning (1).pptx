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2"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70" r:id="rId11"/>
    <p:sldId id="265" r:id="rId12"/>
    <p:sldId id="267" r:id="rId13"/>
    <p:sldId id="268" r:id="rId14"/>
    <p:sldId id="269" r:id="rId15"/>
    <p:sldId id="271"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presProps" Target="presProps.xml" /><Relationship Id="rId3" Type="http://schemas.openxmlformats.org/officeDocument/2006/relationships/slide" Target="slides/slide2.xml" /><Relationship Id="rId21"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3CAFB49-2EE5-4B9A-A015-2A143E551292}" type="datetimeFigureOut">
              <a:rPr lang="en-IN" smtClean="0"/>
              <a:t>08-02-2026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8200A2-79D6-48E3-9457-43AE60AE33CB}" type="slidenum">
              <a:rPr lang="en-IN" smtClean="0"/>
              <a:t>‹#›</a:t>
            </a:fld>
            <a:endParaRPr lang="en-IN"/>
          </a:p>
        </p:txBody>
      </p:sp>
    </p:spTree>
    <p:extLst>
      <p:ext uri="{BB962C8B-B14F-4D97-AF65-F5344CB8AC3E}">
        <p14:creationId xmlns:p14="http://schemas.microsoft.com/office/powerpoint/2010/main" val="301359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2" cstate="print"/>
          <a:srcRect t="33333"/>
          <a:stretch>
            <a:fillRect/>
          </a:stretch>
        </p:blipFill>
        <p:spPr>
          <a:xfrm>
            <a:off x="0" y="0"/>
            <a:ext cx="9144000" cy="4572000"/>
          </a:xfrm>
          <a:prstGeom prst="rect">
            <a:avLst/>
          </a:prstGeom>
        </p:spPr>
      </p:pic>
      <p:sp>
        <p:nvSpPr>
          <p:cNvPr id="4" name="Date Placeholder 3"/>
          <p:cNvSpPr>
            <a:spLocks noGrp="1"/>
          </p:cNvSpPr>
          <p:nvPr>
            <p:ph type="dt" sz="half" idx="10"/>
          </p:nvPr>
        </p:nvSpPr>
        <p:spPr/>
        <p:txBody>
          <a:bodyPr/>
          <a:lstStyle/>
          <a:p>
            <a:fld id="{F44129E0-3A33-46C0-B959-71A451A7C10F}" type="datetimeFigureOut">
              <a:rPr lang="en-IN" smtClean="0"/>
              <a:t>08-02-2026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74E934-991D-467D-A7B7-E5FA597CDCAD}" type="slidenum">
              <a:rPr lang="en-IN" smtClean="0"/>
              <a:t>‹#›</a:t>
            </a:fld>
            <a:endParaRPr lang="en-IN"/>
          </a:p>
        </p:txBody>
      </p:sp>
      <p:sp>
        <p:nvSpPr>
          <p:cNvPr id="3" name="Subtitle 2"/>
          <p:cNvSpPr>
            <a:spLocks noGrp="1"/>
          </p:cNvSpPr>
          <p:nvPr>
            <p:ph type="subTitle" idx="1"/>
          </p:nvPr>
        </p:nvSpPr>
        <p:spPr>
          <a:xfrm>
            <a:off x="1219200" y="3886200"/>
            <a:ext cx="6400800" cy="1752600"/>
          </a:xfrm>
        </p:spPr>
        <p:txBody>
          <a:bodyPr>
            <a:normAutofit/>
          </a:bodyPr>
          <a:lstStyle>
            <a:lvl1pPr marL="0" indent="0" algn="ctr">
              <a:buNone/>
              <a:defRPr sz="17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2" name="Title 1"/>
          <p:cNvSpPr>
            <a:spLocks noGrp="1"/>
          </p:cNvSpPr>
          <p:nvPr>
            <p:ph type="ctrTitle"/>
          </p:nvPr>
        </p:nvSpPr>
        <p:spPr>
          <a:xfrm>
            <a:off x="685800" y="2007888"/>
            <a:ext cx="7772400" cy="1470025"/>
          </a:xfrm>
        </p:spPr>
        <p:txBody>
          <a:bodyPr/>
          <a:lstStyle>
            <a:lvl1pPr algn="ctr">
              <a:defRPr sz="3200"/>
            </a:lvl1pPr>
          </a:lstStyle>
          <a:p>
            <a:r>
              <a:rPr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en-US"/>
              <a:t>Click to edit Master title style</a:t>
            </a:r>
          </a:p>
        </p:txBody>
      </p:sp>
      <p:sp>
        <p:nvSpPr>
          <p:cNvPr id="4" name="Date Placeholder 3"/>
          <p:cNvSpPr>
            <a:spLocks noGrp="1"/>
          </p:cNvSpPr>
          <p:nvPr>
            <p:ph type="dt" sz="half" idx="10"/>
          </p:nvPr>
        </p:nvSpPr>
        <p:spPr/>
        <p:txBody>
          <a:bodyPr/>
          <a:lstStyle/>
          <a:p>
            <a:fld id="{F44129E0-3A33-46C0-B959-71A451A7C10F}" type="datetimeFigureOut">
              <a:rPr lang="en-IN" smtClean="0"/>
              <a:t>08-02-2026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74E934-991D-467D-A7B7-E5FA597CDCAD}" type="slidenum">
              <a:rPr lang="en-IN" smtClean="0"/>
              <a:t>‹#›</a:t>
            </a:fld>
            <a:endParaRPr lang="en-IN"/>
          </a:p>
        </p:txBody>
      </p:sp>
      <p:sp>
        <p:nvSpPr>
          <p:cNvPr id="8" name="Content Placeholder 7"/>
          <p:cNvSpPr>
            <a:spLocks noGrp="1"/>
          </p:cNvSpPr>
          <p:nvPr>
            <p:ph sz="quarter" idx="13"/>
          </p:nvPr>
        </p:nvSpPr>
        <p:spPr>
          <a:xfrm>
            <a:off x="609600" y="1600200"/>
            <a:ext cx="79248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4962525"/>
            <a:ext cx="7885113" cy="1362075"/>
          </a:xfrm>
        </p:spPr>
        <p:txBody>
          <a:bodyPr anchor="t"/>
          <a:lstStyle>
            <a:lvl1pPr algn="l">
              <a:defRPr sz="3200" b="0" i="0" cap="all" baseline="0"/>
            </a:lvl1pPr>
          </a:lstStyle>
          <a:p>
            <a:r>
              <a:rPr lang="en-US"/>
              <a:t>Click to edit Master title style</a:t>
            </a:r>
          </a:p>
        </p:txBody>
      </p:sp>
      <p:sp>
        <p:nvSpPr>
          <p:cNvPr id="3" name="Text Placeholder 2"/>
          <p:cNvSpPr>
            <a:spLocks noGrp="1"/>
          </p:cNvSpPr>
          <p:nvPr>
            <p:ph type="body" idx="1"/>
          </p:nvPr>
        </p:nvSpPr>
        <p:spPr>
          <a:xfrm>
            <a:off x="609600" y="3462338"/>
            <a:ext cx="7885113" cy="1500187"/>
          </a:xfrm>
        </p:spPr>
        <p:txBody>
          <a:bodyPr anchor="b">
            <a:normAutofit/>
          </a:bodyPr>
          <a:lstStyle>
            <a:lvl1pPr marL="0" indent="0">
              <a:buNone/>
              <a:defRPr sz="170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4129E0-3A33-46C0-B959-71A451A7C10F}" type="datetimeFigureOut">
              <a:rPr lang="en-IN" smtClean="0"/>
              <a:t>08-02-2026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74E934-991D-467D-A7B7-E5FA597CDCAD}"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Content Placeholder 10"/>
          <p:cNvSpPr>
            <a:spLocks noGrp="1"/>
          </p:cNvSpPr>
          <p:nvPr>
            <p:ph sz="quarter" idx="13"/>
          </p:nvPr>
        </p:nvSpPr>
        <p:spPr>
          <a:xfrm>
            <a:off x="609600" y="1600200"/>
            <a:ext cx="3733800" cy="4114800"/>
          </a:xfrm>
        </p:spPr>
        <p:txBody>
          <a:bodyPr/>
          <a:lstStyle>
            <a:lvl5pPr>
              <a:defRPr/>
            </a:lvl5pPr>
            <a:lvl6pPr>
              <a:buClr>
                <a:schemeClr val="tx2"/>
              </a:buClr>
              <a:buFont typeface="Arial" pitchFamily="34" charset="0"/>
              <a:buChar char="•"/>
              <a:defRPr/>
            </a:lvl6pPr>
            <a:lvl7pPr>
              <a:buClr>
                <a:schemeClr val="tx2"/>
              </a:buClr>
              <a:buFont typeface="Arial" pitchFamily="34" charset="0"/>
              <a:buChar char="•"/>
              <a:defRPr/>
            </a:lvl7pPr>
            <a:lvl8pPr>
              <a:buClr>
                <a:schemeClr val="tx2"/>
              </a:buClr>
              <a:buFont typeface="Arial" pitchFamily="34" charset="0"/>
              <a:buChar char="•"/>
              <a:defRPr/>
            </a:lvl8pPr>
            <a:lvl9pPr>
              <a:buClr>
                <a:schemeClr val="tx2"/>
              </a:buClr>
              <a:buFont typeface="Arial" pitchFamily="34" charset="0"/>
              <a:buChar cha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14"/>
          </p:nvPr>
        </p:nvSpPr>
        <p:spPr>
          <a:xfrm>
            <a:off x="4800600" y="1600200"/>
            <a:ext cx="3733800" cy="41148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a:xfrm>
            <a:off x="609600" y="274638"/>
            <a:ext cx="7924800" cy="1143000"/>
          </a:xfrm>
        </p:spPr>
        <p:txBody>
          <a:bodyPr/>
          <a:lstStyle/>
          <a:p>
            <a:r>
              <a:rPr lang="en-US"/>
              <a:t>Click to edit Master title style</a:t>
            </a:r>
          </a:p>
        </p:txBody>
      </p:sp>
      <p:sp>
        <p:nvSpPr>
          <p:cNvPr id="5" name="Date Placeholder 4"/>
          <p:cNvSpPr>
            <a:spLocks noGrp="1"/>
          </p:cNvSpPr>
          <p:nvPr>
            <p:ph type="dt" sz="half" idx="10"/>
          </p:nvPr>
        </p:nvSpPr>
        <p:spPr/>
        <p:txBody>
          <a:bodyPr/>
          <a:lstStyle/>
          <a:p>
            <a:fld id="{F44129E0-3A33-46C0-B959-71A451A7C10F}" type="datetimeFigureOut">
              <a:rPr lang="en-IN" smtClean="0"/>
              <a:t>08-02-2026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74E934-991D-467D-A7B7-E5FA597CDCAD}"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Content Placeholder 12"/>
          <p:cNvSpPr>
            <a:spLocks noGrp="1"/>
          </p:cNvSpPr>
          <p:nvPr>
            <p:ph sz="quarter" idx="14"/>
          </p:nvPr>
        </p:nvSpPr>
        <p:spPr>
          <a:xfrm>
            <a:off x="4800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3"/>
          </p:nvPr>
        </p:nvSpPr>
        <p:spPr>
          <a:xfrm>
            <a:off x="609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a:xfrm>
            <a:off x="609600" y="274638"/>
            <a:ext cx="7924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800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F44129E0-3A33-46C0-B959-71A451A7C10F}" type="datetimeFigureOut">
              <a:rPr lang="en-IN" smtClean="0"/>
              <a:t>08-02-2026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374E934-991D-467D-A7B7-E5FA597CDCAD}"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F44129E0-3A33-46C0-B959-71A451A7C10F}" type="datetimeFigureOut">
              <a:rPr lang="en-IN" smtClean="0"/>
              <a:t>08-02-2026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374E934-991D-467D-A7B7-E5FA597CDCAD}"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4129E0-3A33-46C0-B959-71A451A7C10F}" type="datetimeFigureOut">
              <a:rPr lang="en-IN" smtClean="0"/>
              <a:t>08-02-2026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374E934-991D-467D-A7B7-E5FA597CDCAD}"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3962400" y="1447800"/>
            <a:ext cx="46482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a:xfrm>
            <a:off x="612648" y="1447800"/>
            <a:ext cx="2971800" cy="1097280"/>
          </a:xfrm>
        </p:spPr>
        <p:txBody>
          <a:bodyPr anchor="b"/>
          <a:lstStyle>
            <a:lvl1pPr algn="l">
              <a:defRPr sz="1800" b="0" i="0" cap="none" baseline="0">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612648" y="2547891"/>
            <a:ext cx="2971800" cy="3167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4129E0-3A33-46C0-B959-71A451A7C10F}" type="datetimeFigureOut">
              <a:rPr lang="en-IN" smtClean="0"/>
              <a:t>08-02-2026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74E934-991D-467D-A7B7-E5FA597CDCAD}"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pic>
        <p:nvPicPr>
          <p:cNvPr id="11" name="Picture 10" descr="horizon.png"/>
          <p:cNvPicPr>
            <a:picLocks noChangeAspect="1"/>
          </p:cNvPicPr>
          <p:nvPr/>
        </p:nvPicPr>
        <p:blipFill>
          <a:blip r:embed="rId2" cstate="print"/>
          <a:stretch>
            <a:fillRect/>
          </a:stretch>
        </p:blipFill>
        <p:spPr>
          <a:xfrm>
            <a:off x="0" y="0"/>
            <a:ext cx="9144000" cy="6858000"/>
          </a:xfrm>
          <a:prstGeom prst="rect">
            <a:avLst/>
          </a:prstGeom>
        </p:spPr>
      </p:pic>
      <p:sp>
        <p:nvSpPr>
          <p:cNvPr id="2" name="Title 1"/>
          <p:cNvSpPr>
            <a:spLocks noGrp="1"/>
          </p:cNvSpPr>
          <p:nvPr>
            <p:ph type="title"/>
          </p:nvPr>
        </p:nvSpPr>
        <p:spPr>
          <a:xfrm>
            <a:off x="609600" y="1447800"/>
            <a:ext cx="2971800" cy="1097280"/>
          </a:xfrm>
        </p:spPr>
        <p:txBody>
          <a:bodyPr anchor="b"/>
          <a:lstStyle>
            <a:lvl1pPr algn="l">
              <a:defRPr sz="1800" b="0" i="0" cap="none" baseline="0">
                <a:solidFill>
                  <a:schemeClr val="tx2"/>
                </a:solidFill>
              </a:defRPr>
            </a:lvl1pPr>
          </a:lstStyle>
          <a:p>
            <a:r>
              <a:rPr lang="en-US"/>
              <a:t>Click to edit Master title style</a:t>
            </a:r>
          </a:p>
        </p:txBody>
      </p:sp>
      <p:sp>
        <p:nvSpPr>
          <p:cNvPr id="3" name="Picture Placeholder 2"/>
          <p:cNvSpPr>
            <a:spLocks noGrp="1"/>
          </p:cNvSpPr>
          <p:nvPr>
            <p:ph type="pic" idx="1"/>
          </p:nvPr>
        </p:nvSpPr>
        <p:spPr>
          <a:xfrm>
            <a:off x="4657344" y="1447800"/>
            <a:ext cx="3419856" cy="3474720"/>
          </a:xfrm>
          <a:custGeom>
            <a:avLst/>
            <a:gdLst>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74450 w 3419856"/>
              <a:gd name="connsiteY9" fmla="*/ 3429000 h 3429000"/>
              <a:gd name="connsiteX10" fmla="*/ 21806 w 3419856"/>
              <a:gd name="connsiteY10" fmla="*/ 3407194 h 3429000"/>
              <a:gd name="connsiteX11" fmla="*/ 0 w 3419856"/>
              <a:gd name="connsiteY11" fmla="*/ 3354550 h 3429000"/>
              <a:gd name="connsiteX12" fmla="*/ 0 w 3419856"/>
              <a:gd name="connsiteY12" fmla="*/ 74450 h 3429000"/>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21806 w 3419856"/>
              <a:gd name="connsiteY9" fmla="*/ 3407194 h 3429000"/>
              <a:gd name="connsiteX10" fmla="*/ 0 w 3419856"/>
              <a:gd name="connsiteY10" fmla="*/ 3354550 h 3429000"/>
              <a:gd name="connsiteX11" fmla="*/ 0 w 3419856"/>
              <a:gd name="connsiteY11" fmla="*/ 74450 h 3429000"/>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8026"/>
              <a:gd name="connsiteY0" fmla="*/ 74450 h 3910007"/>
              <a:gd name="connsiteX1" fmla="*/ 21806 w 3968026"/>
              <a:gd name="connsiteY1" fmla="*/ 21806 h 3910007"/>
              <a:gd name="connsiteX2" fmla="*/ 74450 w 3968026"/>
              <a:gd name="connsiteY2" fmla="*/ 0 h 3910007"/>
              <a:gd name="connsiteX3" fmla="*/ 3345406 w 3968026"/>
              <a:gd name="connsiteY3" fmla="*/ 0 h 3910007"/>
              <a:gd name="connsiteX4" fmla="*/ 3398050 w 3968026"/>
              <a:gd name="connsiteY4" fmla="*/ 21806 h 3910007"/>
              <a:gd name="connsiteX5" fmla="*/ 3419856 w 3968026"/>
              <a:gd name="connsiteY5" fmla="*/ 74450 h 3910007"/>
              <a:gd name="connsiteX6" fmla="*/ 3419856 w 3968026"/>
              <a:gd name="connsiteY6" fmla="*/ 3354550 h 3910007"/>
              <a:gd name="connsiteX7" fmla="*/ 3398050 w 3968026"/>
              <a:gd name="connsiteY7" fmla="*/ 3407194 h 3910007"/>
              <a:gd name="connsiteX8" fmla="*/ 0 w 3968026"/>
              <a:gd name="connsiteY8" fmla="*/ 3354550 h 3910007"/>
              <a:gd name="connsiteX9" fmla="*/ 0 w 3968026"/>
              <a:gd name="connsiteY9" fmla="*/ 74450 h 3910007"/>
              <a:gd name="connsiteX0" fmla="*/ 0 w 3419856"/>
              <a:gd name="connsiteY0" fmla="*/ 74450 h 3901233"/>
              <a:gd name="connsiteX1" fmla="*/ 21806 w 3419856"/>
              <a:gd name="connsiteY1" fmla="*/ 21806 h 3901233"/>
              <a:gd name="connsiteX2" fmla="*/ 74450 w 3419856"/>
              <a:gd name="connsiteY2" fmla="*/ 0 h 3901233"/>
              <a:gd name="connsiteX3" fmla="*/ 3345406 w 3419856"/>
              <a:gd name="connsiteY3" fmla="*/ 0 h 3901233"/>
              <a:gd name="connsiteX4" fmla="*/ 3398050 w 3419856"/>
              <a:gd name="connsiteY4" fmla="*/ 21806 h 3901233"/>
              <a:gd name="connsiteX5" fmla="*/ 3419856 w 3419856"/>
              <a:gd name="connsiteY5" fmla="*/ 74450 h 3901233"/>
              <a:gd name="connsiteX6" fmla="*/ 3419856 w 3419856"/>
              <a:gd name="connsiteY6" fmla="*/ 3354550 h 3901233"/>
              <a:gd name="connsiteX7" fmla="*/ 0 w 3419856"/>
              <a:gd name="connsiteY7" fmla="*/ 3354550 h 3901233"/>
              <a:gd name="connsiteX8" fmla="*/ 0 w 3419856"/>
              <a:gd name="connsiteY8" fmla="*/ 74450 h 3901233"/>
              <a:gd name="connsiteX0" fmla="*/ 0 w 3419856"/>
              <a:gd name="connsiteY0" fmla="*/ 74450 h 3354550"/>
              <a:gd name="connsiteX1" fmla="*/ 21806 w 3419856"/>
              <a:gd name="connsiteY1" fmla="*/ 21806 h 3354550"/>
              <a:gd name="connsiteX2" fmla="*/ 74450 w 3419856"/>
              <a:gd name="connsiteY2" fmla="*/ 0 h 3354550"/>
              <a:gd name="connsiteX3" fmla="*/ 3345406 w 3419856"/>
              <a:gd name="connsiteY3" fmla="*/ 0 h 3354550"/>
              <a:gd name="connsiteX4" fmla="*/ 3398050 w 3419856"/>
              <a:gd name="connsiteY4" fmla="*/ 21806 h 3354550"/>
              <a:gd name="connsiteX5" fmla="*/ 3419856 w 3419856"/>
              <a:gd name="connsiteY5" fmla="*/ 74450 h 3354550"/>
              <a:gd name="connsiteX6" fmla="*/ 3419856 w 3419856"/>
              <a:gd name="connsiteY6" fmla="*/ 3354550 h 3354550"/>
              <a:gd name="connsiteX7" fmla="*/ 0 w 3419856"/>
              <a:gd name="connsiteY7" fmla="*/ 3354550 h 3354550"/>
              <a:gd name="connsiteX8" fmla="*/ 0 w 3419856"/>
              <a:gd name="connsiteY8" fmla="*/ 74450 h 335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19856" h="3354550">
                <a:moveTo>
                  <a:pt x="0" y="74450"/>
                </a:moveTo>
                <a:cubicBezTo>
                  <a:pt x="0" y="54705"/>
                  <a:pt x="7844" y="35768"/>
                  <a:pt x="21806" y="21806"/>
                </a:cubicBezTo>
                <a:cubicBezTo>
                  <a:pt x="35768" y="7844"/>
                  <a:pt x="54705" y="0"/>
                  <a:pt x="74450" y="0"/>
                </a:cubicBezTo>
                <a:lnTo>
                  <a:pt x="3345406" y="0"/>
                </a:lnTo>
                <a:cubicBezTo>
                  <a:pt x="3365151" y="0"/>
                  <a:pt x="3384088" y="7844"/>
                  <a:pt x="3398050" y="21806"/>
                </a:cubicBezTo>
                <a:cubicBezTo>
                  <a:pt x="3412012" y="35768"/>
                  <a:pt x="3419856" y="54705"/>
                  <a:pt x="3419856" y="74450"/>
                </a:cubicBezTo>
                <a:lnTo>
                  <a:pt x="3419856" y="3354550"/>
                </a:lnTo>
                <a:lnTo>
                  <a:pt x="0" y="3354550"/>
                </a:lnTo>
                <a:lnTo>
                  <a:pt x="0" y="74450"/>
                </a:lnTo>
                <a:close/>
              </a:path>
            </a:pathLst>
          </a:custGeom>
        </p:spPr>
        <p:txBody>
          <a:bodyPr>
            <a:normAutofit/>
          </a:bodyPr>
          <a:lstStyle>
            <a:lvl1pPr marL="0" indent="0" algn="ctr">
              <a:buNone/>
              <a:defRPr sz="2000" baseline="0">
                <a:solidFill>
                  <a:schemeClr val="tx1">
                    <a:lumMod val="6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09600" y="2547890"/>
            <a:ext cx="2971800" cy="2405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4129E0-3A33-46C0-B959-71A451A7C10F}" type="datetimeFigureOut">
              <a:rPr lang="en-IN" smtClean="0"/>
              <a:t>08-02-2026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74E934-991D-467D-A7B7-E5FA597CDCAD}"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44129E0-3A33-46C0-B959-71A451A7C10F}" type="datetimeFigureOut">
              <a:rPr lang="en-IN" smtClean="0"/>
              <a:t>08-02-2026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74E934-991D-467D-A7B7-E5FA597CDCAD}"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44129E0-3A33-46C0-B959-71A451A7C10F}" type="datetimeFigureOut">
              <a:rPr lang="en-IN" smtClean="0"/>
              <a:t>08-02-2026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74E934-991D-467D-A7B7-E5FA597CDCAD}"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pn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13" cstate="print"/>
          <a:stretch>
            <a:fillRect/>
          </a:stretch>
        </p:blipFill>
        <p:spPr>
          <a:xfrm>
            <a:off x="0" y="0"/>
            <a:ext cx="9144000" cy="6858000"/>
          </a:xfrm>
          <a:prstGeom prst="rect">
            <a:avLst/>
          </a:prstGeom>
        </p:spPr>
      </p:pic>
      <p:sp>
        <p:nvSpPr>
          <p:cNvPr id="2" name="Title Placeholder 1"/>
          <p:cNvSpPr>
            <a:spLocks noGrp="1"/>
          </p:cNvSpPr>
          <p:nvPr>
            <p:ph type="title"/>
          </p:nvPr>
        </p:nvSpPr>
        <p:spPr>
          <a:xfrm>
            <a:off x="609600" y="274638"/>
            <a:ext cx="7924800" cy="1143000"/>
          </a:xfrm>
          <a:prstGeom prst="rect">
            <a:avLst/>
          </a:prstGeom>
        </p:spPr>
        <p:txBody>
          <a:bodyPr vert="horz" lIns="91440" tIns="45720" rIns="91440" bIns="45720" rtlCol="0" anchor="b" anchorCtr="0">
            <a:noAutofit/>
          </a:bodyPr>
          <a:lstStyle/>
          <a:p>
            <a:r>
              <a:rPr lang="en-US"/>
              <a:t>Click to edit Master title style</a:t>
            </a:r>
          </a:p>
        </p:txBody>
      </p:sp>
      <p:sp>
        <p:nvSpPr>
          <p:cNvPr id="3" name="Text Placeholder 2"/>
          <p:cNvSpPr>
            <a:spLocks noGrp="1"/>
          </p:cNvSpPr>
          <p:nvPr>
            <p:ph type="body" idx="1"/>
          </p:nvPr>
        </p:nvSpPr>
        <p:spPr>
          <a:xfrm>
            <a:off x="609600" y="1600200"/>
            <a:ext cx="7924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715000" y="6356350"/>
            <a:ext cx="1524000" cy="365125"/>
          </a:xfrm>
          <a:prstGeom prst="rect">
            <a:avLst/>
          </a:prstGeom>
        </p:spPr>
        <p:txBody>
          <a:bodyPr vert="horz" lIns="91440" tIns="45720" rIns="91440" bIns="45720" rtlCol="0" anchor="ctr"/>
          <a:lstStyle>
            <a:lvl1pPr algn="r">
              <a:defRPr sz="1000" strike="noStrike" spc="60" baseline="0">
                <a:solidFill>
                  <a:schemeClr val="tx1"/>
                </a:solidFill>
              </a:defRPr>
            </a:lvl1pPr>
          </a:lstStyle>
          <a:p>
            <a:fld id="{F44129E0-3A33-46C0-B959-71A451A7C10F}" type="datetimeFigureOut">
              <a:rPr lang="en-IN" smtClean="0"/>
              <a:t>08-02-2026</a:t>
            </a:fld>
            <a:endParaRPr lang="en-IN"/>
          </a:p>
        </p:txBody>
      </p:sp>
      <p:sp>
        <p:nvSpPr>
          <p:cNvPr id="5" name="Footer Placeholder 4"/>
          <p:cNvSpPr>
            <a:spLocks noGrp="1"/>
          </p:cNvSpPr>
          <p:nvPr>
            <p:ph type="ftr" sz="quarter" idx="3"/>
          </p:nvPr>
        </p:nvSpPr>
        <p:spPr>
          <a:xfrm>
            <a:off x="609600" y="6356350"/>
            <a:ext cx="2895600" cy="365125"/>
          </a:xfrm>
          <a:prstGeom prst="rect">
            <a:avLst/>
          </a:prstGeom>
        </p:spPr>
        <p:txBody>
          <a:bodyPr vert="horz" lIns="91440" tIns="45720" rIns="91440" bIns="45720" rtlCol="0" anchor="ctr"/>
          <a:lstStyle>
            <a:lvl1pPr algn="l">
              <a:defRPr sz="1000" cap="all" spc="60" baseline="0">
                <a:solidFill>
                  <a:schemeClr val="tx1"/>
                </a:solidFill>
              </a:defRPr>
            </a:lvl1pPr>
          </a:lstStyle>
          <a:p>
            <a:endParaRPr lang="en-IN"/>
          </a:p>
        </p:txBody>
      </p:sp>
      <p:sp>
        <p:nvSpPr>
          <p:cNvPr id="6" name="Slide Number Placeholder 5"/>
          <p:cNvSpPr>
            <a:spLocks noGrp="1"/>
          </p:cNvSpPr>
          <p:nvPr>
            <p:ph type="sldNum" sz="quarter" idx="4"/>
          </p:nvPr>
        </p:nvSpPr>
        <p:spPr>
          <a:xfrm>
            <a:off x="7543800" y="6356350"/>
            <a:ext cx="990600" cy="365125"/>
          </a:xfrm>
          <a:prstGeom prst="rect">
            <a:avLst/>
          </a:prstGeom>
        </p:spPr>
        <p:txBody>
          <a:bodyPr vert="horz" lIns="91440" tIns="45720" rIns="91440" bIns="45720" rtlCol="0" anchor="ctr"/>
          <a:lstStyle>
            <a:lvl1pPr algn="r">
              <a:defRPr sz="1100" baseline="0">
                <a:solidFill>
                  <a:schemeClr val="tx1"/>
                </a:solidFill>
              </a:defRPr>
            </a:lvl1pPr>
          </a:lstStyle>
          <a:p>
            <a:fld id="{5374E934-991D-467D-A7B7-E5FA597CDCAD}" type="slidenum">
              <a:rPr lang="en-IN" smtClean="0"/>
              <a:t>‹#›</a:t>
            </a:fld>
            <a:endParaRPr lang="en-IN"/>
          </a:p>
        </p:txBody>
      </p:sp>
    </p:spTree>
  </p:cSld>
  <p:clrMap bg1="dk1" tx1="lt1" bg2="dk2" tx2="lt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Lst>
  <p:txStyles>
    <p:title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1pPr>
      <a:lvl2pPr marL="742950" indent="-28575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2pPr>
      <a:lvl3pPr marL="1143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3pPr>
      <a:lvl4pPr marL="1600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4pPr>
      <a:lvl5pPr marL="20574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5pPr>
      <a:lvl6pPr marL="25146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6pPr>
      <a:lvl7pPr marL="29718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7pPr>
      <a:lvl8pPr marL="3429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8pPr>
      <a:lvl9pPr marL="3886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8" Type="http://schemas.openxmlformats.org/officeDocument/2006/relationships/image" Target="../media/image11.png" /><Relationship Id="rId13" Type="http://schemas.openxmlformats.org/officeDocument/2006/relationships/image" Target="../media/image16.svg" /><Relationship Id="rId3" Type="http://schemas.openxmlformats.org/officeDocument/2006/relationships/image" Target="../media/image6.svg" /><Relationship Id="rId7" Type="http://schemas.openxmlformats.org/officeDocument/2006/relationships/image" Target="../media/image10.svg" /><Relationship Id="rId12" Type="http://schemas.openxmlformats.org/officeDocument/2006/relationships/image" Target="../media/image15.png" /><Relationship Id="rId2" Type="http://schemas.openxmlformats.org/officeDocument/2006/relationships/image" Target="../media/image5.png" /><Relationship Id="rId1" Type="http://schemas.openxmlformats.org/officeDocument/2006/relationships/slideLayout" Target="../slideLayouts/slideLayout7.xml" /><Relationship Id="rId6" Type="http://schemas.openxmlformats.org/officeDocument/2006/relationships/image" Target="../media/image9.png" /><Relationship Id="rId11" Type="http://schemas.openxmlformats.org/officeDocument/2006/relationships/image" Target="../media/image14.svg" /><Relationship Id="rId5" Type="http://schemas.openxmlformats.org/officeDocument/2006/relationships/image" Target="../media/image8.svg" /><Relationship Id="rId15" Type="http://schemas.openxmlformats.org/officeDocument/2006/relationships/image" Target="../media/image18.svg" /><Relationship Id="rId10" Type="http://schemas.openxmlformats.org/officeDocument/2006/relationships/image" Target="../media/image13.png" /><Relationship Id="rId4" Type="http://schemas.openxmlformats.org/officeDocument/2006/relationships/image" Target="../media/image7.png" /><Relationship Id="rId9" Type="http://schemas.openxmlformats.org/officeDocument/2006/relationships/image" Target="../media/image12.svg" /><Relationship Id="rId14" Type="http://schemas.openxmlformats.org/officeDocument/2006/relationships/image" Target="../media/image17.png" /></Relationships>
</file>

<file path=ppt/slides/_rels/slide7.xml.rels><?xml version="1.0" encoding="UTF-8" standalone="yes"?>
<Relationships xmlns="http://schemas.openxmlformats.org/package/2006/relationships"><Relationship Id="rId2" Type="http://schemas.openxmlformats.org/officeDocument/2006/relationships/image" Target="../media/image19.png"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3" Type="http://schemas.openxmlformats.org/officeDocument/2006/relationships/image" Target="../media/image21.svg" /><Relationship Id="rId2" Type="http://schemas.openxmlformats.org/officeDocument/2006/relationships/image" Target="../media/image20.png" /><Relationship Id="rId1" Type="http://schemas.openxmlformats.org/officeDocument/2006/relationships/slideLayout" Target="../slideLayouts/slideLayout7.xml" /><Relationship Id="rId5" Type="http://schemas.openxmlformats.org/officeDocument/2006/relationships/image" Target="../media/image23.svg" /><Relationship Id="rId4" Type="http://schemas.openxmlformats.org/officeDocument/2006/relationships/image" Target="../media/image22.png" /></Relationships>
</file>

<file path=ppt/slides/_rels/slide10.xml.rels><?xml version="1.0" encoding="UTF-8" standalone="yes"?>
<Relationships xmlns="http://schemas.openxmlformats.org/package/2006/relationships"><Relationship Id="rId2" Type="http://schemas.openxmlformats.org/officeDocument/2006/relationships/image" Target="../media/image24.png"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2" Type="http://schemas.openxmlformats.org/officeDocument/2006/relationships/image" Target="../media/image25.png"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2" Type="http://schemas.openxmlformats.org/officeDocument/2006/relationships/image" Target="../media/image26.png"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71600" y="7029400"/>
            <a:ext cx="6400800" cy="1752600"/>
          </a:xfrm>
        </p:spPr>
        <p:txBody>
          <a:bodyPr/>
          <a:lstStyle/>
          <a:p>
            <a:endParaRPr lang="en-IN"/>
          </a:p>
        </p:txBody>
      </p:sp>
      <p:sp>
        <p:nvSpPr>
          <p:cNvPr id="2" name="Title 1"/>
          <p:cNvSpPr>
            <a:spLocks noGrp="1"/>
          </p:cNvSpPr>
          <p:nvPr>
            <p:ph type="ctrTitle"/>
          </p:nvPr>
        </p:nvSpPr>
        <p:spPr>
          <a:xfrm>
            <a:off x="649796" y="-315416"/>
            <a:ext cx="7772400" cy="1470025"/>
          </a:xfrm>
        </p:spPr>
        <p:txBody>
          <a:bodyPr>
            <a:normAutofit/>
          </a:bodyPr>
          <a:lstStyle/>
          <a:p>
            <a:r>
              <a:rPr lang="en-US">
                <a:latin typeface="Lora" pitchFamily="2" charset="0"/>
              </a:rPr>
              <a:t>Health Assistant Using Machine Learning</a:t>
            </a:r>
            <a:endParaRPr lang="en-IN">
              <a:latin typeface="Lora" pitchFamily="2" charset="0"/>
            </a:endParaRPr>
          </a:p>
        </p:txBody>
      </p:sp>
      <p:sp>
        <p:nvSpPr>
          <p:cNvPr id="4" name="TextBox 3"/>
          <p:cNvSpPr txBox="1"/>
          <p:nvPr/>
        </p:nvSpPr>
        <p:spPr>
          <a:xfrm>
            <a:off x="1187623" y="2471688"/>
            <a:ext cx="6768752" cy="523220"/>
          </a:xfrm>
          <a:prstGeom prst="rect">
            <a:avLst/>
          </a:prstGeom>
          <a:noFill/>
        </p:spPr>
        <p:txBody>
          <a:bodyPr wrap="square" rtlCol="0">
            <a:spAutoFit/>
          </a:bodyPr>
          <a:lstStyle/>
          <a:p>
            <a:pPr algn="ctr"/>
            <a:r>
              <a:rPr lang="en-IN" sz="2800" b="1">
                <a:latin typeface="Poppins" panose="00000500000000000000" pitchFamily="2" charset="0"/>
                <a:cs typeface="Poppins" panose="00000500000000000000" pitchFamily="2" charset="0"/>
              </a:rPr>
              <a:t>HALDIA INSTITUTE OF TECHNOLOGY</a:t>
            </a:r>
          </a:p>
        </p:txBody>
      </p:sp>
      <p:graphicFrame>
        <p:nvGraphicFramePr>
          <p:cNvPr id="7" name="Table 6"/>
          <p:cNvGraphicFramePr>
            <a:graphicFrameLocks noGrp="1"/>
          </p:cNvGraphicFramePr>
          <p:nvPr>
            <p:extLst>
              <p:ext uri="{D42A27DB-BD31-4B8C-83A1-F6EECF244321}">
                <p14:modId xmlns:p14="http://schemas.microsoft.com/office/powerpoint/2010/main" val="3563876061"/>
              </p:ext>
            </p:extLst>
          </p:nvPr>
        </p:nvGraphicFramePr>
        <p:xfrm>
          <a:off x="1403648" y="5188784"/>
          <a:ext cx="6696744" cy="1483360"/>
        </p:xfrm>
        <a:graphic>
          <a:graphicData uri="http://schemas.openxmlformats.org/drawingml/2006/table">
            <a:tbl>
              <a:tblPr firstRow="1" bandRow="1">
                <a:tableStyleId>{2D5ABB26-0587-4C30-8999-92F81FD0307C}</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632744">
                  <a:extLst>
                    <a:ext uri="{9D8B030D-6E8A-4147-A177-3AD203B41FA5}">
                      <a16:colId xmlns:a16="http://schemas.microsoft.com/office/drawing/2014/main" val="20002"/>
                    </a:ext>
                  </a:extLst>
                </a:gridCol>
              </a:tblGrid>
              <a:tr h="370840">
                <a:tc>
                  <a:txBody>
                    <a:bodyPr/>
                    <a:lstStyle/>
                    <a:p>
                      <a:r>
                        <a:rPr lang="en-IN"/>
                        <a:t>Name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IN"/>
                        <a:t>Roll</a:t>
                      </a:r>
                      <a:r>
                        <a:rPr lang="en-IN" baseline="0"/>
                        <a:t> No</a:t>
                      </a:r>
                      <a:endParaRPr lang="en-IN"/>
                    </a:p>
                  </a:txBody>
                  <a:tcPr>
                    <a:lnL w="12700" cap="flat" cmpd="sng" algn="ctr">
                      <a:noFill/>
                      <a:prstDash val="solid"/>
                      <a:round/>
                      <a:headEnd type="none" w="med" len="med"/>
                      <a:tailEnd type="none" w="med" len="med"/>
                    </a:lnL>
                  </a:tcPr>
                </a:tc>
                <a:tc>
                  <a:txBody>
                    <a:bodyPr/>
                    <a:lstStyle/>
                    <a:p>
                      <a:r>
                        <a:rPr lang="en-IN"/>
                        <a:t>Email</a:t>
                      </a:r>
                    </a:p>
                  </a:txBody>
                  <a:tcPr/>
                </a:tc>
                <a:extLst>
                  <a:ext uri="{0D108BD9-81ED-4DB2-BD59-A6C34878D82A}">
                    <a16:rowId xmlns:a16="http://schemas.microsoft.com/office/drawing/2014/main" val="10000"/>
                  </a:ext>
                </a:extLst>
              </a:tr>
              <a:tr h="370840">
                <a:tc>
                  <a:txBody>
                    <a:bodyPr/>
                    <a:lstStyle/>
                    <a:p>
                      <a:r>
                        <a:rPr lang="en-IN"/>
                        <a:t>Subhadip</a:t>
                      </a:r>
                      <a:r>
                        <a:rPr lang="en-IN" baseline="0"/>
                        <a:t> Dey</a:t>
                      </a:r>
                      <a:endParaRPr lang="en-IN"/>
                    </a:p>
                  </a:txBody>
                  <a:tcPr>
                    <a:lnT w="12700" cap="flat" cmpd="sng" algn="ctr">
                      <a:noFill/>
                      <a:prstDash val="solid"/>
                      <a:round/>
                      <a:headEnd type="none" w="med" len="med"/>
                      <a:tailEnd type="none" w="med" len="med"/>
                    </a:lnT>
                  </a:tcPr>
                </a:tc>
                <a:tc>
                  <a:txBody>
                    <a:bodyPr/>
                    <a:lstStyle/>
                    <a:p>
                      <a:r>
                        <a:rPr lang="en-IN"/>
                        <a:t>10300223170</a:t>
                      </a:r>
                    </a:p>
                  </a:txBody>
                  <a:tcPr/>
                </a:tc>
                <a:tc>
                  <a:txBody>
                    <a:bodyPr/>
                    <a:lstStyle/>
                    <a:p>
                      <a:r>
                        <a:rPr lang="en-IN"/>
                        <a:t>deysubhadip66@gmail.com</a:t>
                      </a:r>
                    </a:p>
                  </a:txBody>
                  <a:tcPr/>
                </a:tc>
                <a:extLst>
                  <a:ext uri="{0D108BD9-81ED-4DB2-BD59-A6C34878D82A}">
                    <a16:rowId xmlns:a16="http://schemas.microsoft.com/office/drawing/2014/main" val="10001"/>
                  </a:ext>
                </a:extLst>
              </a:tr>
              <a:tr h="370840">
                <a:tc>
                  <a:txBody>
                    <a:bodyPr/>
                    <a:lstStyle/>
                    <a:p>
                      <a:r>
                        <a:rPr lang="en-IN"/>
                        <a:t>Srijani Dinda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a:t>10300223169</a:t>
                      </a:r>
                    </a:p>
                  </a:txBody>
                  <a:tcPr/>
                </a:tc>
                <a:tc>
                  <a:txBody>
                    <a:bodyPr/>
                    <a:lstStyle/>
                    <a:p>
                      <a:r>
                        <a:rPr lang="en-IN"/>
                        <a:t>srijanidinda64@gmail.com</a:t>
                      </a:r>
                    </a:p>
                  </a:txBody>
                  <a:tcPr/>
                </a:tc>
                <a:extLst>
                  <a:ext uri="{0D108BD9-81ED-4DB2-BD59-A6C34878D82A}">
                    <a16:rowId xmlns:a16="http://schemas.microsoft.com/office/drawing/2014/main" val="10002"/>
                  </a:ext>
                </a:extLst>
              </a:tr>
              <a:tr h="370840">
                <a:tc>
                  <a:txBody>
                    <a:bodyPr/>
                    <a:lstStyle/>
                    <a:p>
                      <a:r>
                        <a:rPr lang="en-IN"/>
                        <a:t>Sathi Pramanik</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a:t>10300223137</a:t>
                      </a:r>
                    </a:p>
                  </a:txBody>
                  <a:tcPr/>
                </a:tc>
                <a:tc>
                  <a:txBody>
                    <a:bodyPr/>
                    <a:lstStyle/>
                    <a:p>
                      <a:r>
                        <a:rPr lang="en-IN"/>
                        <a:t>18sathipramanik@gmail.com</a:t>
                      </a:r>
                    </a:p>
                  </a:txBody>
                  <a:tcPr/>
                </a:tc>
                <a:extLst>
                  <a:ext uri="{0D108BD9-81ED-4DB2-BD59-A6C34878D82A}">
                    <a16:rowId xmlns:a16="http://schemas.microsoft.com/office/drawing/2014/main" val="10003"/>
                  </a:ext>
                </a:extLst>
              </a:tr>
            </a:tbl>
          </a:graphicData>
        </a:graphic>
      </p:graphicFrame>
      <p:sp>
        <p:nvSpPr>
          <p:cNvPr id="8" name="TextBox 7"/>
          <p:cNvSpPr txBox="1"/>
          <p:nvPr/>
        </p:nvSpPr>
        <p:spPr>
          <a:xfrm>
            <a:off x="2602292" y="3031145"/>
            <a:ext cx="5184576" cy="369332"/>
          </a:xfrm>
          <a:prstGeom prst="rect">
            <a:avLst/>
          </a:prstGeom>
          <a:noFill/>
        </p:spPr>
        <p:txBody>
          <a:bodyPr wrap="square" rtlCol="0">
            <a:spAutoFit/>
          </a:bodyPr>
          <a:lstStyle/>
          <a:p>
            <a:r>
              <a:rPr lang="en-IN">
                <a:latin typeface="Poppins" panose="00000500000000000000" pitchFamily="2" charset="0"/>
                <a:cs typeface="Poppins" panose="00000500000000000000" pitchFamily="2" charset="0"/>
              </a:rPr>
              <a:t>Dept : INFORMATION TECHNOLOGY</a:t>
            </a:r>
          </a:p>
        </p:txBody>
      </p:sp>
      <p:pic>
        <p:nvPicPr>
          <p:cNvPr id="6" name="Picture 5">
            <a:extLst>
              <a:ext uri="{FF2B5EF4-FFF2-40B4-BE49-F238E27FC236}">
                <a16:creationId xmlns:a16="http://schemas.microsoft.com/office/drawing/2014/main" id="{CACEEB74-1665-77AA-2A53-9E170D8724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49419" y="1123275"/>
            <a:ext cx="1245161" cy="1245161"/>
          </a:xfrm>
          <a:prstGeom prst="rect">
            <a:avLst/>
          </a:prstGeom>
        </p:spPr>
      </p:pic>
      <p:sp>
        <p:nvSpPr>
          <p:cNvPr id="9" name="TextBox 8">
            <a:extLst>
              <a:ext uri="{FF2B5EF4-FFF2-40B4-BE49-F238E27FC236}">
                <a16:creationId xmlns:a16="http://schemas.microsoft.com/office/drawing/2014/main" id="{D12A9528-26E7-1410-6FDB-11FE0222D913}"/>
              </a:ext>
            </a:extLst>
          </p:cNvPr>
          <p:cNvSpPr txBox="1"/>
          <p:nvPr/>
        </p:nvSpPr>
        <p:spPr>
          <a:xfrm>
            <a:off x="1763687" y="3907180"/>
            <a:ext cx="5544617" cy="369332"/>
          </a:xfrm>
          <a:prstGeom prst="rect">
            <a:avLst/>
          </a:prstGeom>
          <a:noFill/>
        </p:spPr>
        <p:txBody>
          <a:bodyPr wrap="square" rtlCol="0">
            <a:spAutoFit/>
          </a:bodyPr>
          <a:lstStyle/>
          <a:p>
            <a:pPr algn="ctr"/>
            <a:r>
              <a:rPr lang="en-US"/>
              <a:t>Submitted To :- Mr. Debasish Sahoo</a:t>
            </a:r>
          </a:p>
        </p:txBody>
      </p:sp>
      <p:sp>
        <p:nvSpPr>
          <p:cNvPr id="10" name="TextBox 9">
            <a:extLst>
              <a:ext uri="{FF2B5EF4-FFF2-40B4-BE49-F238E27FC236}">
                <a16:creationId xmlns:a16="http://schemas.microsoft.com/office/drawing/2014/main" id="{23993FB5-BA1F-EA6A-E6C9-4432329060E4}"/>
              </a:ext>
            </a:extLst>
          </p:cNvPr>
          <p:cNvSpPr txBox="1"/>
          <p:nvPr/>
        </p:nvSpPr>
        <p:spPr>
          <a:xfrm>
            <a:off x="2267744" y="4377646"/>
            <a:ext cx="4536504" cy="369332"/>
          </a:xfrm>
          <a:prstGeom prst="rect">
            <a:avLst/>
          </a:prstGeom>
          <a:noFill/>
        </p:spPr>
        <p:txBody>
          <a:bodyPr wrap="square" rtlCol="0">
            <a:spAutoFit/>
          </a:bodyPr>
          <a:lstStyle/>
          <a:p>
            <a:pPr algn="ctr"/>
            <a:r>
              <a:rPr lang="en-US"/>
              <a:t>Submitted By :--</a:t>
            </a:r>
          </a:p>
        </p:txBody>
      </p:sp>
    </p:spTree>
    <p:extLst>
      <p:ext uri="{BB962C8B-B14F-4D97-AF65-F5344CB8AC3E}">
        <p14:creationId xmlns:p14="http://schemas.microsoft.com/office/powerpoint/2010/main" val="1534839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1107CBC6-728E-E3F1-E288-68F3D045AF31}"/>
              </a:ext>
            </a:extLst>
          </p:cNvPr>
          <p:cNvSpPr/>
          <p:nvPr/>
        </p:nvSpPr>
        <p:spPr>
          <a:xfrm>
            <a:off x="755576" y="3068960"/>
            <a:ext cx="8267343" cy="2435499"/>
          </a:xfrm>
          <a:prstGeom prst="roundRect">
            <a:avLst/>
          </a:prstGeom>
          <a:solidFill>
            <a:schemeClr val="bg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4AE27A9D-B622-BFE9-0C09-0DDBC50D7763}"/>
              </a:ext>
            </a:extLst>
          </p:cNvPr>
          <p:cNvSpPr/>
          <p:nvPr/>
        </p:nvSpPr>
        <p:spPr>
          <a:xfrm>
            <a:off x="917848" y="951694"/>
            <a:ext cx="7686600" cy="1999384"/>
          </a:xfrm>
          <a:prstGeom prst="roundRect">
            <a:avLst/>
          </a:prstGeom>
          <a:solidFill>
            <a:schemeClr val="bg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195736" y="243808"/>
            <a:ext cx="4752528" cy="707886"/>
          </a:xfrm>
          <a:prstGeom prst="rect">
            <a:avLst/>
          </a:prstGeom>
          <a:noFill/>
        </p:spPr>
        <p:txBody>
          <a:bodyPr wrap="square" rtlCol="0">
            <a:spAutoFit/>
          </a:bodyPr>
          <a:lstStyle/>
          <a:p>
            <a:pPr algn="ctr"/>
            <a:r>
              <a:rPr lang="en-IN" sz="4000" b="1">
                <a:latin typeface="Lora" pitchFamily="2" charset="0"/>
              </a:rPr>
              <a:t>Introduction</a:t>
            </a:r>
          </a:p>
        </p:txBody>
      </p:sp>
      <p:sp>
        <p:nvSpPr>
          <p:cNvPr id="4" name="TextBox 3"/>
          <p:cNvSpPr txBox="1"/>
          <p:nvPr/>
        </p:nvSpPr>
        <p:spPr>
          <a:xfrm>
            <a:off x="1000815" y="1069576"/>
            <a:ext cx="7776864" cy="1754326"/>
          </a:xfrm>
          <a:prstGeom prst="rect">
            <a:avLst/>
          </a:prstGeom>
          <a:noFill/>
        </p:spPr>
        <p:txBody>
          <a:bodyPr wrap="square" rtlCol="0">
            <a:spAutoFit/>
          </a:bodyPr>
          <a:lstStyle/>
          <a:p>
            <a:r>
              <a:rPr lang="en-US">
                <a:latin typeface="Poppins" panose="00000500000000000000" pitchFamily="2" charset="0"/>
                <a:cs typeface="Poppins" panose="00000500000000000000" pitchFamily="2" charset="0"/>
              </a:rPr>
              <a:t>In today’s rapidly evolving healthcare environment, hospitals generate a massive volume of patient data on a daily basis. This data includes medical history, laboratory test results, vital signs, lifestyle factors, and treatment records. Managing and analyzing such large and complex datasets manually is not only time-consuming but also highly prone to human error.</a:t>
            </a:r>
          </a:p>
        </p:txBody>
      </p:sp>
      <p:sp>
        <p:nvSpPr>
          <p:cNvPr id="2" name="TextBox 1">
            <a:extLst>
              <a:ext uri="{FF2B5EF4-FFF2-40B4-BE49-F238E27FC236}">
                <a16:creationId xmlns:a16="http://schemas.microsoft.com/office/drawing/2014/main" id="{68CBE954-C1DA-7C8A-D18C-724FB9B26B91}"/>
              </a:ext>
            </a:extLst>
          </p:cNvPr>
          <p:cNvSpPr txBox="1"/>
          <p:nvPr/>
        </p:nvSpPr>
        <p:spPr>
          <a:xfrm>
            <a:off x="917848" y="3196136"/>
            <a:ext cx="8172400" cy="2308324"/>
          </a:xfrm>
          <a:prstGeom prst="rect">
            <a:avLst/>
          </a:prstGeom>
          <a:noFill/>
        </p:spPr>
        <p:txBody>
          <a:bodyPr wrap="square" rtlCol="0">
            <a:spAutoFit/>
          </a:bodyPr>
          <a:lstStyle/>
          <a:p>
            <a:r>
              <a:rPr lang="en-US">
                <a:latin typeface="Poppins" panose="00000500000000000000" pitchFamily="2" charset="0"/>
                <a:cs typeface="Poppins" panose="00000500000000000000" pitchFamily="2" charset="0"/>
              </a:rPr>
              <a:t>Machine Learning (ML) provides an effective solution by enabling automated analysis of healthcare data to uncover hidden patterns, trends, and relationships. By leveraging ML techniques, healthcare systems can assist doctors in early disease detection, accurate diagnosis, personalized treatment planning, and risk assessment. This data-driven approach enhances clinical decision-making, reduces workload on medical professionals, and improves overall patient care and operational efficiency.</a:t>
            </a:r>
          </a:p>
        </p:txBody>
      </p:sp>
      <p:sp>
        <p:nvSpPr>
          <p:cNvPr id="9" name="Arrow: Right 8">
            <a:extLst>
              <a:ext uri="{FF2B5EF4-FFF2-40B4-BE49-F238E27FC236}">
                <a16:creationId xmlns:a16="http://schemas.microsoft.com/office/drawing/2014/main" id="{7DD0EDFC-9537-72B8-71CD-579AD530B70A}"/>
              </a:ext>
            </a:extLst>
          </p:cNvPr>
          <p:cNvSpPr/>
          <p:nvPr/>
        </p:nvSpPr>
        <p:spPr>
          <a:xfrm>
            <a:off x="179512" y="1124744"/>
            <a:ext cx="648072" cy="3600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38BBC614-AF7B-22B2-6DF5-AC77CCC41401}"/>
              </a:ext>
            </a:extLst>
          </p:cNvPr>
          <p:cNvSpPr/>
          <p:nvPr/>
        </p:nvSpPr>
        <p:spPr>
          <a:xfrm>
            <a:off x="107504" y="3211912"/>
            <a:ext cx="648072" cy="3600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5512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15716" y="285121"/>
            <a:ext cx="5184576" cy="707886"/>
          </a:xfrm>
          <a:prstGeom prst="rect">
            <a:avLst/>
          </a:prstGeom>
          <a:noFill/>
        </p:spPr>
        <p:txBody>
          <a:bodyPr wrap="square" rtlCol="0">
            <a:spAutoFit/>
          </a:bodyPr>
          <a:lstStyle/>
          <a:p>
            <a:pPr algn="ctr"/>
            <a:r>
              <a:rPr lang="en-IN" sz="4000" b="1">
                <a:latin typeface="Lora" pitchFamily="2" charset="0"/>
              </a:rPr>
              <a:t>Problem Statement</a:t>
            </a:r>
          </a:p>
        </p:txBody>
      </p:sp>
      <p:sp>
        <p:nvSpPr>
          <p:cNvPr id="5" name="TextBox 4">
            <a:extLst>
              <a:ext uri="{FF2B5EF4-FFF2-40B4-BE49-F238E27FC236}">
                <a16:creationId xmlns:a16="http://schemas.microsoft.com/office/drawing/2014/main" id="{6FEDEFD6-BCF5-8872-5744-E24D27DE6FCC}"/>
              </a:ext>
            </a:extLst>
          </p:cNvPr>
          <p:cNvSpPr txBox="1"/>
          <p:nvPr/>
        </p:nvSpPr>
        <p:spPr>
          <a:xfrm>
            <a:off x="683568" y="1217747"/>
            <a:ext cx="7848872" cy="923330"/>
          </a:xfrm>
          <a:prstGeom prst="rect">
            <a:avLst/>
          </a:prstGeom>
          <a:noFill/>
        </p:spPr>
        <p:txBody>
          <a:bodyPr wrap="square" rtlCol="0">
            <a:spAutoFit/>
          </a:bodyPr>
          <a:lstStyle/>
          <a:p>
            <a:r>
              <a:rPr lang="en-US">
                <a:latin typeface="Poppins" panose="00000500000000000000" pitchFamily="2" charset="0"/>
                <a:cs typeface="Poppins" panose="00000500000000000000" pitchFamily="2" charset="0"/>
              </a:rPr>
              <a:t>Doctors and healthcare staff are required to make </a:t>
            </a:r>
            <a:r>
              <a:rPr lang="en-US" b="1">
                <a:latin typeface="Poppins" panose="00000500000000000000" pitchFamily="2" charset="0"/>
                <a:cs typeface="Poppins" panose="00000500000000000000" pitchFamily="2" charset="0"/>
              </a:rPr>
              <a:t>quick and critical decisions</a:t>
            </a:r>
            <a:r>
              <a:rPr lang="en-US">
                <a:latin typeface="Poppins" panose="00000500000000000000" pitchFamily="2" charset="0"/>
                <a:cs typeface="Poppins" panose="00000500000000000000" pitchFamily="2" charset="0"/>
              </a:rPr>
              <a:t> based on multiple patient parameters such as age, vitals, medical history, and lifestyle factors.</a:t>
            </a:r>
          </a:p>
        </p:txBody>
      </p:sp>
      <p:sp>
        <p:nvSpPr>
          <p:cNvPr id="6" name="TextBox 5">
            <a:extLst>
              <a:ext uri="{FF2B5EF4-FFF2-40B4-BE49-F238E27FC236}">
                <a16:creationId xmlns:a16="http://schemas.microsoft.com/office/drawing/2014/main" id="{A38D210F-BBD6-52D7-EA25-BACBA040BDBF}"/>
              </a:ext>
            </a:extLst>
          </p:cNvPr>
          <p:cNvSpPr txBox="1"/>
          <p:nvPr/>
        </p:nvSpPr>
        <p:spPr>
          <a:xfrm>
            <a:off x="683568" y="2358992"/>
            <a:ext cx="8280920" cy="923330"/>
          </a:xfrm>
          <a:prstGeom prst="rect">
            <a:avLst/>
          </a:prstGeom>
          <a:noFill/>
        </p:spPr>
        <p:txBody>
          <a:bodyPr wrap="square" rtlCol="0">
            <a:spAutoFit/>
          </a:bodyPr>
          <a:lstStyle/>
          <a:p>
            <a:r>
              <a:rPr lang="en-US" b="1">
                <a:latin typeface="Poppins" panose="00000500000000000000" pitchFamily="2" charset="0"/>
                <a:cs typeface="Poppins" panose="00000500000000000000" pitchFamily="2" charset="0"/>
              </a:rPr>
              <a:t>Manual analysis of patient records</a:t>
            </a:r>
            <a:r>
              <a:rPr lang="en-US">
                <a:latin typeface="Poppins" panose="00000500000000000000" pitchFamily="2" charset="0"/>
                <a:cs typeface="Poppins" panose="00000500000000000000" pitchFamily="2" charset="0"/>
              </a:rPr>
              <a:t> is time-consuming and may not always provide accurate or timely insights, especially when dealing with large volumes of data.</a:t>
            </a:r>
          </a:p>
        </p:txBody>
      </p:sp>
      <p:sp>
        <p:nvSpPr>
          <p:cNvPr id="7" name="TextBox 6">
            <a:extLst>
              <a:ext uri="{FF2B5EF4-FFF2-40B4-BE49-F238E27FC236}">
                <a16:creationId xmlns:a16="http://schemas.microsoft.com/office/drawing/2014/main" id="{9AAFA98E-383A-828F-127F-73ABE79ACC41}"/>
              </a:ext>
            </a:extLst>
          </p:cNvPr>
          <p:cNvSpPr txBox="1"/>
          <p:nvPr/>
        </p:nvSpPr>
        <p:spPr>
          <a:xfrm>
            <a:off x="683568" y="3500238"/>
            <a:ext cx="8280920" cy="923330"/>
          </a:xfrm>
          <a:prstGeom prst="rect">
            <a:avLst/>
          </a:prstGeom>
          <a:noFill/>
        </p:spPr>
        <p:txBody>
          <a:bodyPr wrap="square" rtlCol="0">
            <a:spAutoFit/>
          </a:bodyPr>
          <a:lstStyle/>
          <a:p>
            <a:r>
              <a:rPr lang="en-US">
                <a:latin typeface="Poppins" panose="00000500000000000000" pitchFamily="2" charset="0"/>
                <a:cs typeface="Poppins" panose="00000500000000000000" pitchFamily="2" charset="0"/>
              </a:rPr>
              <a:t>Predicting </a:t>
            </a:r>
            <a:r>
              <a:rPr lang="en-US" b="1">
                <a:latin typeface="Poppins" panose="00000500000000000000" pitchFamily="2" charset="0"/>
                <a:cs typeface="Poppins" panose="00000500000000000000" pitchFamily="2" charset="0"/>
              </a:rPr>
              <a:t>disease conditions, recovery duration, treatment cost, and readmission risk</a:t>
            </a:r>
            <a:r>
              <a:rPr lang="en-US">
                <a:latin typeface="Poppins" panose="00000500000000000000" pitchFamily="2" charset="0"/>
                <a:cs typeface="Poppins" panose="00000500000000000000" pitchFamily="2" charset="0"/>
              </a:rPr>
              <a:t> becomes challenging due to the complexity and size of healthcare datasets.</a:t>
            </a:r>
          </a:p>
        </p:txBody>
      </p:sp>
      <p:sp>
        <p:nvSpPr>
          <p:cNvPr id="8" name="TextBox 7">
            <a:extLst>
              <a:ext uri="{FF2B5EF4-FFF2-40B4-BE49-F238E27FC236}">
                <a16:creationId xmlns:a16="http://schemas.microsoft.com/office/drawing/2014/main" id="{11A3407B-50D2-CDFA-2B98-47575D6CB1F9}"/>
              </a:ext>
            </a:extLst>
          </p:cNvPr>
          <p:cNvSpPr txBox="1"/>
          <p:nvPr/>
        </p:nvSpPr>
        <p:spPr>
          <a:xfrm>
            <a:off x="683568" y="4581128"/>
            <a:ext cx="8280920" cy="923330"/>
          </a:xfrm>
          <a:prstGeom prst="rect">
            <a:avLst/>
          </a:prstGeom>
          <a:noFill/>
        </p:spPr>
        <p:txBody>
          <a:bodyPr wrap="square" rtlCol="0">
            <a:spAutoFit/>
          </a:bodyPr>
          <a:lstStyle/>
          <a:p>
            <a:r>
              <a:rPr lang="en-US">
                <a:latin typeface="Poppins" panose="00000500000000000000" pitchFamily="2" charset="0"/>
                <a:cs typeface="Poppins" panose="00000500000000000000" pitchFamily="2" charset="0"/>
              </a:rPr>
              <a:t>The lack of automated data analysis can lead to </a:t>
            </a:r>
            <a:r>
              <a:rPr lang="en-US" b="1">
                <a:latin typeface="Poppins" panose="00000500000000000000" pitchFamily="2" charset="0"/>
                <a:cs typeface="Poppins" panose="00000500000000000000" pitchFamily="2" charset="0"/>
              </a:rPr>
              <a:t>delayed diagnosis, inefficient treatment planning, and increased workload</a:t>
            </a:r>
            <a:r>
              <a:rPr lang="en-US">
                <a:latin typeface="Poppins" panose="00000500000000000000" pitchFamily="2" charset="0"/>
                <a:cs typeface="Poppins" panose="00000500000000000000" pitchFamily="2" charset="0"/>
              </a:rPr>
              <a:t> for healthcare professionals.</a:t>
            </a:r>
          </a:p>
        </p:txBody>
      </p:sp>
      <p:sp>
        <p:nvSpPr>
          <p:cNvPr id="9" name="Rectangle: Rounded Corners 8">
            <a:extLst>
              <a:ext uri="{FF2B5EF4-FFF2-40B4-BE49-F238E27FC236}">
                <a16:creationId xmlns:a16="http://schemas.microsoft.com/office/drawing/2014/main" id="{099AFFFF-D06F-0D3C-16E4-4942F108A345}"/>
              </a:ext>
            </a:extLst>
          </p:cNvPr>
          <p:cNvSpPr/>
          <p:nvPr/>
        </p:nvSpPr>
        <p:spPr>
          <a:xfrm>
            <a:off x="247824" y="1231721"/>
            <a:ext cx="432048" cy="411053"/>
          </a:xfrm>
          <a:prstGeom prst="roundRect">
            <a:avLst/>
          </a:prstGeom>
          <a:solidFill>
            <a:schemeClr val="bg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62059248-EFBB-FE22-41BE-8AE7D1E9396D}"/>
              </a:ext>
            </a:extLst>
          </p:cNvPr>
          <p:cNvSpPr/>
          <p:nvPr/>
        </p:nvSpPr>
        <p:spPr>
          <a:xfrm>
            <a:off x="247824" y="2409604"/>
            <a:ext cx="432048" cy="411053"/>
          </a:xfrm>
          <a:prstGeom prst="roundRect">
            <a:avLst/>
          </a:prstGeom>
          <a:solidFill>
            <a:schemeClr val="bg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CDBE135B-B99C-F985-0E96-00ED60B755AF}"/>
              </a:ext>
            </a:extLst>
          </p:cNvPr>
          <p:cNvSpPr/>
          <p:nvPr/>
        </p:nvSpPr>
        <p:spPr>
          <a:xfrm>
            <a:off x="247824" y="3550850"/>
            <a:ext cx="432048" cy="411053"/>
          </a:xfrm>
          <a:prstGeom prst="roundRect">
            <a:avLst/>
          </a:prstGeom>
          <a:solidFill>
            <a:schemeClr val="bg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EF40C0D8-4910-F779-C913-2034F0AB56A4}"/>
              </a:ext>
            </a:extLst>
          </p:cNvPr>
          <p:cNvSpPr/>
          <p:nvPr/>
        </p:nvSpPr>
        <p:spPr>
          <a:xfrm>
            <a:off x="247824" y="4595936"/>
            <a:ext cx="432048" cy="411053"/>
          </a:xfrm>
          <a:prstGeom prst="roundRect">
            <a:avLst/>
          </a:prstGeom>
          <a:solidFill>
            <a:schemeClr val="bg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5471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A823F45-A1D0-3E06-9BAB-796000199FEA}"/>
              </a:ext>
            </a:extLst>
          </p:cNvPr>
          <p:cNvSpPr txBox="1"/>
          <p:nvPr/>
        </p:nvSpPr>
        <p:spPr>
          <a:xfrm>
            <a:off x="755576" y="151509"/>
            <a:ext cx="6840760" cy="707886"/>
          </a:xfrm>
          <a:prstGeom prst="rect">
            <a:avLst/>
          </a:prstGeom>
          <a:noFill/>
        </p:spPr>
        <p:txBody>
          <a:bodyPr wrap="square" rtlCol="0">
            <a:spAutoFit/>
          </a:bodyPr>
          <a:lstStyle/>
          <a:p>
            <a:pPr algn="ctr"/>
            <a:r>
              <a:rPr lang="en-US" sz="4000" b="1">
                <a:latin typeface="Lora" pitchFamily="2" charset="0"/>
              </a:rPr>
              <a:t>Objectives</a:t>
            </a:r>
          </a:p>
        </p:txBody>
      </p:sp>
      <p:pic>
        <p:nvPicPr>
          <p:cNvPr id="12" name="Picture 11">
            <a:extLst>
              <a:ext uri="{FF2B5EF4-FFF2-40B4-BE49-F238E27FC236}">
                <a16:creationId xmlns:a16="http://schemas.microsoft.com/office/drawing/2014/main" id="{3BC70942-DC9A-7411-7BEE-576F6652A4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600" y="1124744"/>
            <a:ext cx="6709905" cy="4873861"/>
          </a:xfrm>
          <a:prstGeom prst="rect">
            <a:avLst/>
          </a:prstGeom>
        </p:spPr>
      </p:pic>
    </p:spTree>
    <p:extLst>
      <p:ext uri="{BB962C8B-B14F-4D97-AF65-F5344CB8AC3E}">
        <p14:creationId xmlns:p14="http://schemas.microsoft.com/office/powerpoint/2010/main" val="3996255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87724" y="260648"/>
            <a:ext cx="4824536" cy="707886"/>
          </a:xfrm>
          <a:prstGeom prst="rect">
            <a:avLst/>
          </a:prstGeom>
          <a:noFill/>
        </p:spPr>
        <p:txBody>
          <a:bodyPr wrap="square" rtlCol="0">
            <a:spAutoFit/>
          </a:bodyPr>
          <a:lstStyle/>
          <a:p>
            <a:pPr algn="ctr"/>
            <a:r>
              <a:rPr lang="en-IN" sz="4000" b="1">
                <a:latin typeface="Lora" pitchFamily="2" charset="0"/>
              </a:rPr>
              <a:t>Dataset Overview</a:t>
            </a:r>
          </a:p>
        </p:txBody>
      </p:sp>
      <p:sp>
        <p:nvSpPr>
          <p:cNvPr id="4" name="Rectangle 1">
            <a:extLst>
              <a:ext uri="{FF2B5EF4-FFF2-40B4-BE49-F238E27FC236}">
                <a16:creationId xmlns:a16="http://schemas.microsoft.com/office/drawing/2014/main" id="{EE53510E-9E65-E7AD-5CDC-DA8619E122E9}"/>
              </a:ext>
            </a:extLst>
          </p:cNvPr>
          <p:cNvSpPr>
            <a:spLocks noChangeArrowheads="1"/>
          </p:cNvSpPr>
          <p:nvPr/>
        </p:nvSpPr>
        <p:spPr bwMode="auto">
          <a:xfrm>
            <a:off x="251520" y="1166842"/>
            <a:ext cx="849694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a:ln>
                  <a:noFill/>
                </a:ln>
                <a:solidFill>
                  <a:schemeClr val="tx1"/>
                </a:solidFill>
                <a:effectLst/>
                <a:latin typeface="Poppins" panose="00000500000000000000" pitchFamily="2" charset="0"/>
                <a:cs typeface="Poppins" panose="00000500000000000000" pitchFamily="2" charset="0"/>
              </a:rPr>
              <a:t>Total Records:</a:t>
            </a:r>
            <a:r>
              <a:rPr kumimoji="0" lang="en-US" altLang="en-US" sz="1600" b="0" i="0" u="none" strike="noStrike" cap="none" normalizeH="0" baseline="0">
                <a:ln>
                  <a:noFill/>
                </a:ln>
                <a:solidFill>
                  <a:schemeClr val="tx1"/>
                </a:solidFill>
                <a:effectLst/>
                <a:latin typeface="Poppins" panose="00000500000000000000" pitchFamily="2" charset="0"/>
                <a:cs typeface="Poppins" panose="00000500000000000000" pitchFamily="2" charset="0"/>
              </a:rPr>
              <a:t> 10,000 patient records, representing a large and diverse sample suitable for reliable statistical analysis and machine learning model training.</a:t>
            </a:r>
          </a:p>
          <a:p>
            <a:pPr marR="0" lvl="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a:ln>
                <a:noFill/>
              </a:ln>
              <a:solidFill>
                <a:schemeClr val="tx1"/>
              </a:solidFill>
              <a:effectLst/>
              <a:latin typeface="Poppins" panose="00000500000000000000" pitchFamily="2" charset="0"/>
              <a:cs typeface="Poppins" panose="00000500000000000000" pitchFamily="2"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a:ln>
                  <a:noFill/>
                </a:ln>
                <a:solidFill>
                  <a:schemeClr val="tx1"/>
                </a:solidFill>
                <a:effectLst/>
                <a:latin typeface="Poppins" panose="00000500000000000000" pitchFamily="2" charset="0"/>
                <a:cs typeface="Poppins" panose="00000500000000000000" pitchFamily="2" charset="0"/>
              </a:rPr>
              <a:t>Total Attributes:</a:t>
            </a:r>
            <a:r>
              <a:rPr kumimoji="0" lang="en-US" altLang="en-US" sz="1600" b="0" i="0" u="none" strike="noStrike" cap="none" normalizeH="0" baseline="0">
                <a:ln>
                  <a:noFill/>
                </a:ln>
                <a:solidFill>
                  <a:schemeClr val="tx1"/>
                </a:solidFill>
                <a:effectLst/>
                <a:latin typeface="Poppins" panose="00000500000000000000" pitchFamily="2" charset="0"/>
                <a:cs typeface="Poppins" panose="00000500000000000000" pitchFamily="2" charset="0"/>
              </a:rPr>
              <a:t> 28 features covering patient demographics, physical measurements, health indicators, hospital operations, financial information, and medical outcomes.</a:t>
            </a:r>
          </a:p>
          <a:p>
            <a:pPr marR="0" lvl="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a:ln>
                <a:noFill/>
              </a:ln>
              <a:solidFill>
                <a:schemeClr val="tx1"/>
              </a:solidFill>
              <a:effectLst/>
              <a:latin typeface="Poppins" panose="00000500000000000000" pitchFamily="2" charset="0"/>
              <a:cs typeface="Poppins" panose="00000500000000000000" pitchFamily="2"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a:ln>
                  <a:noFill/>
                </a:ln>
                <a:solidFill>
                  <a:schemeClr val="tx1"/>
                </a:solidFill>
                <a:effectLst/>
                <a:latin typeface="Poppins" panose="00000500000000000000" pitchFamily="2" charset="0"/>
                <a:cs typeface="Poppins" panose="00000500000000000000" pitchFamily="2" charset="0"/>
              </a:rPr>
              <a:t>Data Types:</a:t>
            </a:r>
            <a:r>
              <a:rPr kumimoji="0" lang="en-US" altLang="en-US" sz="1600" b="0" i="0" u="none" strike="noStrike" cap="none" normalizeH="0" baseline="0">
                <a:ln>
                  <a:noFill/>
                </a:ln>
                <a:solidFill>
                  <a:schemeClr val="tx1"/>
                </a:solidFill>
                <a:effectLst/>
                <a:latin typeface="Poppins" panose="00000500000000000000" pitchFamily="2" charset="0"/>
                <a:cs typeface="Poppins" panose="00000500000000000000" pitchFamily="2" charset="0"/>
              </a:rPr>
              <a:t> A combination of </a:t>
            </a:r>
            <a:r>
              <a:rPr kumimoji="0" lang="en-US" altLang="en-US" sz="1600" b="1" i="0" u="none" strike="noStrike" cap="none" normalizeH="0" baseline="0">
                <a:ln>
                  <a:noFill/>
                </a:ln>
                <a:solidFill>
                  <a:schemeClr val="tx1"/>
                </a:solidFill>
                <a:effectLst/>
                <a:latin typeface="Poppins" panose="00000500000000000000" pitchFamily="2" charset="0"/>
                <a:cs typeface="Poppins" panose="00000500000000000000" pitchFamily="2" charset="0"/>
              </a:rPr>
              <a:t>numerical data</a:t>
            </a:r>
            <a:r>
              <a:rPr kumimoji="0" lang="en-US" altLang="en-US" sz="1600" b="0" i="0" u="none" strike="noStrike" cap="none" normalizeH="0" baseline="0">
                <a:ln>
                  <a:noFill/>
                </a:ln>
                <a:solidFill>
                  <a:schemeClr val="tx1"/>
                </a:solidFill>
                <a:effectLst/>
                <a:latin typeface="Poppins" panose="00000500000000000000" pitchFamily="2" charset="0"/>
                <a:cs typeface="Poppins" panose="00000500000000000000" pitchFamily="2" charset="0"/>
              </a:rPr>
              <a:t> (such as age, vital signs, hospital stay duration, and treatment cost) and </a:t>
            </a:r>
            <a:r>
              <a:rPr kumimoji="0" lang="en-US" altLang="en-US" sz="1600" b="1" i="0" u="none" strike="noStrike" cap="none" normalizeH="0" baseline="0">
                <a:ln>
                  <a:noFill/>
                </a:ln>
                <a:solidFill>
                  <a:schemeClr val="tx1"/>
                </a:solidFill>
                <a:effectLst/>
                <a:latin typeface="Poppins" panose="00000500000000000000" pitchFamily="2" charset="0"/>
                <a:cs typeface="Poppins" panose="00000500000000000000" pitchFamily="2" charset="0"/>
              </a:rPr>
              <a:t>categorical data</a:t>
            </a:r>
            <a:r>
              <a:rPr kumimoji="0" lang="en-US" altLang="en-US" sz="1600" b="0" i="0" u="none" strike="noStrike" cap="none" normalizeH="0" baseline="0">
                <a:ln>
                  <a:noFill/>
                </a:ln>
                <a:solidFill>
                  <a:schemeClr val="tx1"/>
                </a:solidFill>
                <a:effectLst/>
                <a:latin typeface="Poppins" panose="00000500000000000000" pitchFamily="2" charset="0"/>
                <a:cs typeface="Poppins" panose="00000500000000000000" pitchFamily="2" charset="0"/>
              </a:rPr>
              <a:t> (such as gender, disease type, lifestyle habits, insurance status, and treatment outcomes).</a:t>
            </a:r>
          </a:p>
          <a:p>
            <a:pPr marR="0" lvl="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a:ln>
                <a:noFill/>
              </a:ln>
              <a:solidFill>
                <a:schemeClr val="tx1"/>
              </a:solidFill>
              <a:effectLst/>
              <a:latin typeface="Poppins" panose="00000500000000000000" pitchFamily="2" charset="0"/>
              <a:cs typeface="Poppins" panose="00000500000000000000" pitchFamily="2"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a:ln>
                  <a:noFill/>
                </a:ln>
                <a:solidFill>
                  <a:schemeClr val="tx1"/>
                </a:solidFill>
                <a:effectLst/>
                <a:latin typeface="Poppins" panose="00000500000000000000" pitchFamily="2" charset="0"/>
                <a:cs typeface="Poppins" panose="00000500000000000000" pitchFamily="2" charset="0"/>
              </a:rPr>
              <a:t>Data Nature:</a:t>
            </a:r>
            <a:r>
              <a:rPr kumimoji="0" lang="en-US" altLang="en-US" sz="1600" b="0" i="0" u="none" strike="noStrike" cap="none" normalizeH="0" baseline="0">
                <a:ln>
                  <a:noFill/>
                </a:ln>
                <a:solidFill>
                  <a:schemeClr val="tx1"/>
                </a:solidFill>
                <a:effectLst/>
                <a:latin typeface="Poppins" panose="00000500000000000000" pitchFamily="2" charset="0"/>
                <a:cs typeface="Poppins" panose="00000500000000000000" pitchFamily="2" charset="0"/>
              </a:rPr>
              <a:t> The dataset simulates a </a:t>
            </a:r>
            <a:r>
              <a:rPr kumimoji="0" lang="en-US" altLang="en-US" sz="1600" b="1" i="0" u="none" strike="noStrike" cap="none" normalizeH="0" baseline="0">
                <a:ln>
                  <a:noFill/>
                </a:ln>
                <a:solidFill>
                  <a:schemeClr val="tx1"/>
                </a:solidFill>
                <a:effectLst/>
                <a:latin typeface="Poppins" panose="00000500000000000000" pitchFamily="2" charset="0"/>
                <a:cs typeface="Poppins" panose="00000500000000000000" pitchFamily="2" charset="0"/>
              </a:rPr>
              <a:t>real-world hospital environment</a:t>
            </a:r>
            <a:r>
              <a:rPr kumimoji="0" lang="en-US" altLang="en-US" sz="1600" b="0" i="0" u="none" strike="noStrike" cap="none" normalizeH="0" baseline="0">
                <a:ln>
                  <a:noFill/>
                </a:ln>
                <a:solidFill>
                  <a:schemeClr val="tx1"/>
                </a:solidFill>
                <a:effectLst/>
                <a:latin typeface="Poppins" panose="00000500000000000000" pitchFamily="2" charset="0"/>
                <a:cs typeface="Poppins" panose="00000500000000000000" pitchFamily="2" charset="0"/>
              </a:rPr>
              <a:t>, reflecting practical healthcare scenarios and patient variability.</a:t>
            </a:r>
          </a:p>
          <a:p>
            <a:pPr marR="0" lvl="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a:ln>
                <a:noFill/>
              </a:ln>
              <a:solidFill>
                <a:schemeClr val="tx1"/>
              </a:solidFill>
              <a:effectLst/>
              <a:latin typeface="Poppins" panose="00000500000000000000" pitchFamily="2" charset="0"/>
              <a:cs typeface="Poppins" panose="00000500000000000000" pitchFamily="2"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a:ln>
                  <a:noFill/>
                </a:ln>
                <a:solidFill>
                  <a:schemeClr val="tx1"/>
                </a:solidFill>
                <a:effectLst/>
                <a:latin typeface="Poppins" panose="00000500000000000000" pitchFamily="2" charset="0"/>
                <a:cs typeface="Poppins" panose="00000500000000000000" pitchFamily="2" charset="0"/>
              </a:rPr>
              <a:t>Use Cases:</a:t>
            </a:r>
            <a:r>
              <a:rPr kumimoji="0" lang="en-US" altLang="en-US" sz="1600" b="0" i="0" u="none" strike="noStrike" cap="none" normalizeH="0" baseline="0">
                <a:ln>
                  <a:noFill/>
                </a:ln>
                <a:solidFill>
                  <a:schemeClr val="tx1"/>
                </a:solidFill>
                <a:effectLst/>
                <a:latin typeface="Poppins" panose="00000500000000000000" pitchFamily="2" charset="0"/>
                <a:cs typeface="Poppins" panose="00000500000000000000" pitchFamily="2" charset="0"/>
              </a:rPr>
              <a:t> Designed for </a:t>
            </a:r>
            <a:r>
              <a:rPr kumimoji="0" lang="en-US" altLang="en-US" sz="1600" b="1" i="0" u="none" strike="noStrike" cap="none" normalizeH="0" baseline="0">
                <a:ln>
                  <a:noFill/>
                </a:ln>
                <a:solidFill>
                  <a:schemeClr val="tx1"/>
                </a:solidFill>
                <a:effectLst/>
                <a:latin typeface="Poppins" panose="00000500000000000000" pitchFamily="2" charset="0"/>
                <a:cs typeface="Poppins" panose="00000500000000000000" pitchFamily="2" charset="0"/>
              </a:rPr>
              <a:t>healthcare analytics</a:t>
            </a:r>
            <a:r>
              <a:rPr kumimoji="0" lang="en-US" altLang="en-US" sz="1600" b="0" i="0" u="none" strike="noStrike" cap="none" normalizeH="0" baseline="0">
                <a:ln>
                  <a:noFill/>
                </a:ln>
                <a:solidFill>
                  <a:schemeClr val="tx1"/>
                </a:solidFill>
                <a:effectLst/>
                <a:latin typeface="Poppins" panose="00000500000000000000" pitchFamily="2" charset="0"/>
                <a:cs typeface="Poppins" panose="00000500000000000000" pitchFamily="2" charset="0"/>
              </a:rPr>
              <a:t>, including disease prediction, treatment cost estimation, patient outcome analysis, and hospital readmission risk assessment using machine learning techniques.</a:t>
            </a:r>
          </a:p>
        </p:txBody>
      </p:sp>
    </p:spTree>
    <p:extLst>
      <p:ext uri="{BB962C8B-B14F-4D97-AF65-F5344CB8AC3E}">
        <p14:creationId xmlns:p14="http://schemas.microsoft.com/office/powerpoint/2010/main" val="837380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51720" y="262485"/>
            <a:ext cx="5040560" cy="707886"/>
          </a:xfrm>
          <a:prstGeom prst="rect">
            <a:avLst/>
          </a:prstGeom>
          <a:noFill/>
        </p:spPr>
        <p:txBody>
          <a:bodyPr wrap="square" rtlCol="0">
            <a:spAutoFit/>
          </a:bodyPr>
          <a:lstStyle/>
          <a:p>
            <a:pPr algn="ctr"/>
            <a:r>
              <a:rPr lang="en-IN" sz="4000" b="1">
                <a:latin typeface="Lora" pitchFamily="2" charset="0"/>
              </a:rPr>
              <a:t>Dataset Attributes</a:t>
            </a:r>
          </a:p>
        </p:txBody>
      </p:sp>
      <p:pic>
        <p:nvPicPr>
          <p:cNvPr id="9" name="Graphic 8" descr="Medical with solid fill">
            <a:extLst>
              <a:ext uri="{FF2B5EF4-FFF2-40B4-BE49-F238E27FC236}">
                <a16:creationId xmlns:a16="http://schemas.microsoft.com/office/drawing/2014/main" id="{944180BE-BBBF-8371-982D-146759016F3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44008" y="2457969"/>
            <a:ext cx="577497" cy="577497"/>
          </a:xfrm>
          <a:prstGeom prst="rect">
            <a:avLst/>
          </a:prstGeom>
        </p:spPr>
      </p:pic>
      <p:grpSp>
        <p:nvGrpSpPr>
          <p:cNvPr id="13" name="Group 12">
            <a:extLst>
              <a:ext uri="{FF2B5EF4-FFF2-40B4-BE49-F238E27FC236}">
                <a16:creationId xmlns:a16="http://schemas.microsoft.com/office/drawing/2014/main" id="{21EE11E2-D102-83F5-68EB-9283F4F97BC8}"/>
              </a:ext>
            </a:extLst>
          </p:cNvPr>
          <p:cNvGrpSpPr/>
          <p:nvPr/>
        </p:nvGrpSpPr>
        <p:grpSpPr>
          <a:xfrm>
            <a:off x="4704156" y="988542"/>
            <a:ext cx="5046449" cy="654020"/>
            <a:chOff x="3971791" y="973039"/>
            <a:chExt cx="5046449" cy="654020"/>
          </a:xfrm>
        </p:grpSpPr>
        <p:sp>
          <p:nvSpPr>
            <p:cNvPr id="7" name="TextBox 6">
              <a:extLst>
                <a:ext uri="{FF2B5EF4-FFF2-40B4-BE49-F238E27FC236}">
                  <a16:creationId xmlns:a16="http://schemas.microsoft.com/office/drawing/2014/main" id="{89B0A4D7-7D06-50A4-5747-DDFB6E29E709}"/>
                </a:ext>
              </a:extLst>
            </p:cNvPr>
            <p:cNvSpPr txBox="1"/>
            <p:nvPr/>
          </p:nvSpPr>
          <p:spPr>
            <a:xfrm>
              <a:off x="4427984" y="980728"/>
              <a:ext cx="4590256" cy="646331"/>
            </a:xfrm>
            <a:prstGeom prst="rect">
              <a:avLst/>
            </a:prstGeom>
            <a:noFill/>
          </p:spPr>
          <p:txBody>
            <a:bodyPr wrap="square">
              <a:spAutoFit/>
            </a:bodyPr>
            <a:lstStyle/>
            <a:p>
              <a:pPr>
                <a:buNone/>
              </a:pPr>
              <a:r>
                <a:rPr lang="en-US" sz="2000" b="1"/>
                <a:t> </a:t>
              </a:r>
              <a:r>
                <a:rPr lang="en-US" b="1">
                  <a:latin typeface="Poppins" panose="00000500000000000000" pitchFamily="2" charset="0"/>
                  <a:cs typeface="Poppins" panose="00000500000000000000" pitchFamily="2" charset="0"/>
                </a:rPr>
                <a:t>Physical Details</a:t>
              </a:r>
              <a:endParaRPr lang="en-US" sz="2000" b="1">
                <a:latin typeface="Poppins" panose="00000500000000000000" pitchFamily="2" charset="0"/>
                <a:cs typeface="Poppins" panose="00000500000000000000" pitchFamily="2" charset="0"/>
              </a:endParaRPr>
            </a:p>
            <a:p>
              <a:r>
                <a:rPr lang="en-US" sz="1600" b="1" err="1">
                  <a:latin typeface="Aptos Narrow" panose="020B0004020202020204" pitchFamily="34" charset="0"/>
                </a:rPr>
                <a:t>Height_cm</a:t>
              </a:r>
              <a:r>
                <a:rPr lang="en-US" sz="1600">
                  <a:latin typeface="Aptos Narrow" panose="020B0004020202020204" pitchFamily="34" charset="0"/>
                </a:rPr>
                <a:t> </a:t>
              </a:r>
              <a:r>
                <a:rPr lang="en-US" sz="1600" b="1">
                  <a:latin typeface="Aptos Narrow" panose="020B0004020202020204" pitchFamily="34" charset="0"/>
                </a:rPr>
                <a:t>, </a:t>
              </a:r>
              <a:r>
                <a:rPr lang="en-US" sz="1600" b="1" err="1">
                  <a:latin typeface="Aptos Narrow" panose="020B0004020202020204" pitchFamily="34" charset="0"/>
                </a:rPr>
                <a:t>Weight_kg</a:t>
              </a:r>
              <a:r>
                <a:rPr lang="en-US" sz="1600">
                  <a:latin typeface="Aptos Narrow" panose="020B0004020202020204" pitchFamily="34" charset="0"/>
                </a:rPr>
                <a:t> </a:t>
              </a:r>
            </a:p>
          </p:txBody>
        </p:sp>
        <p:pic>
          <p:nvPicPr>
            <p:cNvPr id="12" name="Graphic 11" descr="Body builder with solid fill">
              <a:extLst>
                <a:ext uri="{FF2B5EF4-FFF2-40B4-BE49-F238E27FC236}">
                  <a16:creationId xmlns:a16="http://schemas.microsoft.com/office/drawing/2014/main" id="{965CEF59-5622-BDCF-569B-AC15539176E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71791" y="973039"/>
              <a:ext cx="556099" cy="556099"/>
            </a:xfrm>
            <a:prstGeom prst="rect">
              <a:avLst/>
            </a:prstGeom>
          </p:spPr>
        </p:pic>
      </p:grpSp>
      <p:grpSp>
        <p:nvGrpSpPr>
          <p:cNvPr id="18" name="Group 17">
            <a:extLst>
              <a:ext uri="{FF2B5EF4-FFF2-40B4-BE49-F238E27FC236}">
                <a16:creationId xmlns:a16="http://schemas.microsoft.com/office/drawing/2014/main" id="{78A428DF-51B5-CA9C-443C-EFA82FC1516E}"/>
              </a:ext>
            </a:extLst>
          </p:cNvPr>
          <p:cNvGrpSpPr/>
          <p:nvPr/>
        </p:nvGrpSpPr>
        <p:grpSpPr>
          <a:xfrm>
            <a:off x="75809" y="2546603"/>
            <a:ext cx="4208159" cy="861774"/>
            <a:chOff x="-59433" y="2469942"/>
            <a:chExt cx="5177809" cy="861774"/>
          </a:xfrm>
        </p:grpSpPr>
        <p:sp>
          <p:nvSpPr>
            <p:cNvPr id="15" name="TextBox 14">
              <a:extLst>
                <a:ext uri="{FF2B5EF4-FFF2-40B4-BE49-F238E27FC236}">
                  <a16:creationId xmlns:a16="http://schemas.microsoft.com/office/drawing/2014/main" id="{AC979D40-7D8A-D523-2974-FFF17BDAB351}"/>
                </a:ext>
              </a:extLst>
            </p:cNvPr>
            <p:cNvSpPr txBox="1"/>
            <p:nvPr/>
          </p:nvSpPr>
          <p:spPr>
            <a:xfrm>
              <a:off x="546376" y="2469942"/>
              <a:ext cx="4572000" cy="861774"/>
            </a:xfrm>
            <a:prstGeom prst="rect">
              <a:avLst/>
            </a:prstGeom>
            <a:noFill/>
          </p:spPr>
          <p:txBody>
            <a:bodyPr wrap="square">
              <a:spAutoFit/>
            </a:bodyPr>
            <a:lstStyle/>
            <a:p>
              <a:pPr>
                <a:buNone/>
              </a:pPr>
              <a:r>
                <a:rPr lang="en-US" b="1">
                  <a:latin typeface="Poppins" panose="00000500000000000000" pitchFamily="2" charset="0"/>
                  <a:cs typeface="Poppins" panose="00000500000000000000" pitchFamily="2" charset="0"/>
                </a:rPr>
                <a:t>Health Metrics</a:t>
              </a:r>
            </a:p>
            <a:p>
              <a:r>
                <a:rPr lang="en-US" sz="1600" b="1" err="1">
                  <a:latin typeface="Aptos Narrow" panose="020B0004020202020204" pitchFamily="34" charset="0"/>
                </a:rPr>
                <a:t>Pulse_Rate</a:t>
              </a:r>
              <a:r>
                <a:rPr lang="en-US" sz="1600">
                  <a:latin typeface="Aptos Narrow" panose="020B0004020202020204" pitchFamily="34" charset="0"/>
                </a:rPr>
                <a:t> , </a:t>
              </a:r>
              <a:r>
                <a:rPr lang="en-US" sz="1600" b="1" err="1">
                  <a:latin typeface="Aptos Narrow" panose="020B0004020202020204" pitchFamily="34" charset="0"/>
                </a:rPr>
                <a:t>Oxygen_Level</a:t>
              </a:r>
              <a:r>
                <a:rPr lang="en-US" sz="1600">
                  <a:latin typeface="Aptos Narrow" panose="020B0004020202020204" pitchFamily="34" charset="0"/>
                </a:rPr>
                <a:t> ,</a:t>
              </a:r>
              <a:r>
                <a:rPr lang="en-US" sz="1600" b="1">
                  <a:latin typeface="Aptos Narrow" panose="020B0004020202020204" pitchFamily="34" charset="0"/>
                </a:rPr>
                <a:t>BP</a:t>
              </a:r>
              <a:r>
                <a:rPr lang="en-US" sz="1600">
                  <a:latin typeface="Aptos Narrow" panose="020B0004020202020204" pitchFamily="34" charset="0"/>
                </a:rPr>
                <a:t> ,</a:t>
              </a:r>
            </a:p>
            <a:p>
              <a:r>
                <a:rPr lang="en-US" sz="1600" b="1">
                  <a:latin typeface="Aptos Narrow" panose="020B0004020202020204" pitchFamily="34" charset="0"/>
                </a:rPr>
                <a:t>Sugar</a:t>
              </a:r>
              <a:r>
                <a:rPr lang="en-US" sz="1600">
                  <a:latin typeface="Aptos Narrow" panose="020B0004020202020204" pitchFamily="34" charset="0"/>
                </a:rPr>
                <a:t> ,</a:t>
              </a:r>
              <a:r>
                <a:rPr lang="en-US" sz="1600" b="1">
                  <a:latin typeface="Aptos Narrow" panose="020B0004020202020204" pitchFamily="34" charset="0"/>
                </a:rPr>
                <a:t>Chol</a:t>
              </a:r>
              <a:r>
                <a:rPr lang="en-US" sz="1600">
                  <a:latin typeface="Aptos Narrow" panose="020B0004020202020204" pitchFamily="34" charset="0"/>
                </a:rPr>
                <a:t> </a:t>
              </a:r>
            </a:p>
          </p:txBody>
        </p:sp>
        <p:pic>
          <p:nvPicPr>
            <p:cNvPr id="17" name="Graphic 16" descr="Heart with pulse with solid fill">
              <a:extLst>
                <a:ext uri="{FF2B5EF4-FFF2-40B4-BE49-F238E27FC236}">
                  <a16:creationId xmlns:a16="http://schemas.microsoft.com/office/drawing/2014/main" id="{1CBACEC6-A044-5BE2-571E-B0577C4C7B4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9433" y="2474134"/>
              <a:ext cx="714668" cy="714668"/>
            </a:xfrm>
            <a:prstGeom prst="rect">
              <a:avLst/>
            </a:prstGeom>
          </p:spPr>
        </p:pic>
      </p:grpSp>
      <p:sp>
        <p:nvSpPr>
          <p:cNvPr id="20" name="TextBox 19">
            <a:extLst>
              <a:ext uri="{FF2B5EF4-FFF2-40B4-BE49-F238E27FC236}">
                <a16:creationId xmlns:a16="http://schemas.microsoft.com/office/drawing/2014/main" id="{B1FCAFD5-D9BF-8904-8ABF-A6FFBBAE695E}"/>
              </a:ext>
            </a:extLst>
          </p:cNvPr>
          <p:cNvSpPr txBox="1"/>
          <p:nvPr/>
        </p:nvSpPr>
        <p:spPr>
          <a:xfrm>
            <a:off x="5221505" y="2578679"/>
            <a:ext cx="4601632" cy="861774"/>
          </a:xfrm>
          <a:prstGeom prst="rect">
            <a:avLst/>
          </a:prstGeom>
          <a:noFill/>
        </p:spPr>
        <p:txBody>
          <a:bodyPr wrap="square">
            <a:spAutoFit/>
          </a:bodyPr>
          <a:lstStyle/>
          <a:p>
            <a:pPr>
              <a:buNone/>
            </a:pPr>
            <a:r>
              <a:rPr lang="en-US" b="1">
                <a:latin typeface="Poppins" panose="00000500000000000000" pitchFamily="2" charset="0"/>
                <a:cs typeface="Poppins" panose="00000500000000000000" pitchFamily="2" charset="0"/>
              </a:rPr>
              <a:t>Lifestyle &amp; Risk Factors</a:t>
            </a:r>
          </a:p>
          <a:p>
            <a:r>
              <a:rPr lang="en-US" sz="1600" b="1">
                <a:latin typeface="Aptos Narrow" panose="020B0004020202020204" pitchFamily="34" charset="0"/>
              </a:rPr>
              <a:t>Smoke</a:t>
            </a:r>
            <a:r>
              <a:rPr lang="en-US" sz="1600">
                <a:latin typeface="Aptos Narrow" panose="020B0004020202020204" pitchFamily="34" charset="0"/>
              </a:rPr>
              <a:t>, </a:t>
            </a:r>
            <a:r>
              <a:rPr lang="en-US" sz="1600" b="1">
                <a:latin typeface="Aptos Narrow" panose="020B0004020202020204" pitchFamily="34" charset="0"/>
              </a:rPr>
              <a:t>Alcohol</a:t>
            </a:r>
            <a:r>
              <a:rPr lang="en-US" sz="1600">
                <a:latin typeface="Aptos Narrow" panose="020B0004020202020204" pitchFamily="34" charset="0"/>
              </a:rPr>
              <a:t> , </a:t>
            </a:r>
            <a:r>
              <a:rPr lang="en-US" sz="1600" b="1" err="1">
                <a:latin typeface="Aptos Narrow" panose="020B0004020202020204" pitchFamily="34" charset="0"/>
              </a:rPr>
              <a:t>Stress_Level</a:t>
            </a:r>
            <a:r>
              <a:rPr lang="en-US" sz="1600">
                <a:latin typeface="Aptos Narrow" panose="020B0004020202020204" pitchFamily="34" charset="0"/>
              </a:rPr>
              <a:t> , </a:t>
            </a:r>
          </a:p>
          <a:p>
            <a:r>
              <a:rPr lang="en-US" sz="1600" b="1" err="1">
                <a:latin typeface="Aptos Narrow" panose="020B0004020202020204" pitchFamily="34" charset="0"/>
              </a:rPr>
              <a:t>Chronic_Disease</a:t>
            </a:r>
            <a:r>
              <a:rPr lang="en-US" sz="1600">
                <a:latin typeface="Aptos Narrow" panose="020B0004020202020204" pitchFamily="34" charset="0"/>
              </a:rPr>
              <a:t> </a:t>
            </a:r>
          </a:p>
        </p:txBody>
      </p:sp>
      <p:grpSp>
        <p:nvGrpSpPr>
          <p:cNvPr id="23" name="Group 22">
            <a:extLst>
              <a:ext uri="{FF2B5EF4-FFF2-40B4-BE49-F238E27FC236}">
                <a16:creationId xmlns:a16="http://schemas.microsoft.com/office/drawing/2014/main" id="{C1573D2D-ACED-9358-E5FC-449CFB99168C}"/>
              </a:ext>
            </a:extLst>
          </p:cNvPr>
          <p:cNvGrpSpPr/>
          <p:nvPr/>
        </p:nvGrpSpPr>
        <p:grpSpPr>
          <a:xfrm>
            <a:off x="67764" y="970371"/>
            <a:ext cx="4311933" cy="918218"/>
            <a:chOff x="67764" y="970371"/>
            <a:chExt cx="4311933" cy="918218"/>
          </a:xfrm>
        </p:grpSpPr>
        <p:sp>
          <p:nvSpPr>
            <p:cNvPr id="5" name="TextBox 4">
              <a:extLst>
                <a:ext uri="{FF2B5EF4-FFF2-40B4-BE49-F238E27FC236}">
                  <a16:creationId xmlns:a16="http://schemas.microsoft.com/office/drawing/2014/main" id="{623229B6-4C33-B00F-3F12-42A63BBF369C}"/>
                </a:ext>
              </a:extLst>
            </p:cNvPr>
            <p:cNvSpPr txBox="1"/>
            <p:nvPr/>
          </p:nvSpPr>
          <p:spPr>
            <a:xfrm>
              <a:off x="563273" y="1026815"/>
              <a:ext cx="3816424" cy="861774"/>
            </a:xfrm>
            <a:prstGeom prst="rect">
              <a:avLst/>
            </a:prstGeom>
            <a:noFill/>
          </p:spPr>
          <p:txBody>
            <a:bodyPr wrap="square">
              <a:spAutoFit/>
            </a:bodyPr>
            <a:lstStyle/>
            <a:p>
              <a:pPr>
                <a:buNone/>
              </a:pPr>
              <a:r>
                <a:rPr lang="en-US" sz="1400" b="1">
                  <a:latin typeface="Aptos Narrow" panose="020B0004020202020204" pitchFamily="34" charset="0"/>
                  <a:cs typeface="Poppins" panose="00000500000000000000" pitchFamily="2" charset="0"/>
                </a:rPr>
                <a:t> </a:t>
              </a:r>
              <a:r>
                <a:rPr lang="en-US" b="1">
                  <a:latin typeface="Poppins" panose="00000500000000000000" pitchFamily="2" charset="0"/>
                  <a:cs typeface="Poppins" panose="00000500000000000000" pitchFamily="2" charset="0"/>
                </a:rPr>
                <a:t>Patient Demographic Details</a:t>
              </a:r>
            </a:p>
            <a:p>
              <a:r>
                <a:rPr lang="en-US" sz="1600" b="1">
                  <a:latin typeface="Aptos Narrow" panose="020B0004020202020204" pitchFamily="34" charset="0"/>
                  <a:cs typeface="Poppins" panose="00000500000000000000" pitchFamily="2" charset="0"/>
                </a:rPr>
                <a:t> </a:t>
              </a:r>
              <a:r>
                <a:rPr lang="en-US" sz="1600" b="1" err="1">
                  <a:latin typeface="Aptos Narrow" panose="020B0004020202020204" pitchFamily="34" charset="0"/>
                  <a:cs typeface="Poppins" panose="00000500000000000000" pitchFamily="2" charset="0"/>
                </a:rPr>
                <a:t>Patient_ID</a:t>
              </a:r>
              <a:r>
                <a:rPr lang="en-US" sz="1600">
                  <a:latin typeface="Aptos Narrow" panose="020B0004020202020204" pitchFamily="34" charset="0"/>
                  <a:cs typeface="Poppins" panose="00000500000000000000" pitchFamily="2" charset="0"/>
                </a:rPr>
                <a:t> , </a:t>
              </a:r>
              <a:r>
                <a:rPr lang="en-US" sz="1600" b="1" err="1">
                  <a:latin typeface="Aptos Narrow" panose="020B0004020202020204" pitchFamily="34" charset="0"/>
                  <a:cs typeface="Poppins" panose="00000500000000000000" pitchFamily="2" charset="0"/>
                </a:rPr>
                <a:t>Patient_Name</a:t>
              </a:r>
              <a:r>
                <a:rPr lang="en-US" sz="1600">
                  <a:latin typeface="Aptos Narrow" panose="020B0004020202020204" pitchFamily="34" charset="0"/>
                  <a:cs typeface="Poppins" panose="00000500000000000000" pitchFamily="2" charset="0"/>
                </a:rPr>
                <a:t> , </a:t>
              </a:r>
              <a:r>
                <a:rPr lang="en-US" sz="1600" b="1">
                  <a:latin typeface="Aptos Narrow" panose="020B0004020202020204" pitchFamily="34" charset="0"/>
                  <a:cs typeface="Poppins" panose="00000500000000000000" pitchFamily="2" charset="0"/>
                </a:rPr>
                <a:t>Age</a:t>
              </a:r>
              <a:r>
                <a:rPr lang="en-US" sz="1600">
                  <a:latin typeface="Aptos Narrow" panose="020B0004020202020204" pitchFamily="34" charset="0"/>
                  <a:cs typeface="Poppins" panose="00000500000000000000" pitchFamily="2" charset="0"/>
                </a:rPr>
                <a:t> , </a:t>
              </a:r>
              <a:r>
                <a:rPr lang="en-US" sz="1600" b="1">
                  <a:latin typeface="Aptos Narrow" panose="020B0004020202020204" pitchFamily="34" charset="0"/>
                  <a:cs typeface="Poppins" panose="00000500000000000000" pitchFamily="2" charset="0"/>
                </a:rPr>
                <a:t>Gender</a:t>
              </a:r>
              <a:r>
                <a:rPr lang="en-US" sz="1600">
                  <a:latin typeface="Aptos Narrow" panose="020B0004020202020204" pitchFamily="34" charset="0"/>
                  <a:cs typeface="Poppins" panose="00000500000000000000" pitchFamily="2" charset="0"/>
                </a:rPr>
                <a:t> , </a:t>
              </a:r>
              <a:r>
                <a:rPr lang="en-US" sz="1600" b="1">
                  <a:latin typeface="Aptos Narrow" panose="020B0004020202020204" pitchFamily="34" charset="0"/>
                  <a:cs typeface="Poppins" panose="00000500000000000000" pitchFamily="2" charset="0"/>
                </a:rPr>
                <a:t>City</a:t>
              </a:r>
              <a:r>
                <a:rPr lang="en-US" sz="1600">
                  <a:latin typeface="Aptos Narrow" panose="020B0004020202020204" pitchFamily="34" charset="0"/>
                  <a:cs typeface="Poppins" panose="00000500000000000000" pitchFamily="2" charset="0"/>
                </a:rPr>
                <a:t> </a:t>
              </a:r>
            </a:p>
          </p:txBody>
        </p:sp>
        <p:pic>
          <p:nvPicPr>
            <p:cNvPr id="22" name="Graphic 21" descr="Users with solid fill">
              <a:extLst>
                <a:ext uri="{FF2B5EF4-FFF2-40B4-BE49-F238E27FC236}">
                  <a16:creationId xmlns:a16="http://schemas.microsoft.com/office/drawing/2014/main" id="{CA144945-1B81-CADE-45D1-21B057A16BB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7764" y="970371"/>
              <a:ext cx="605810" cy="605810"/>
            </a:xfrm>
            <a:prstGeom prst="rect">
              <a:avLst/>
            </a:prstGeom>
          </p:spPr>
        </p:pic>
      </p:grpSp>
      <p:grpSp>
        <p:nvGrpSpPr>
          <p:cNvPr id="37" name="Group 36">
            <a:extLst>
              <a:ext uri="{FF2B5EF4-FFF2-40B4-BE49-F238E27FC236}">
                <a16:creationId xmlns:a16="http://schemas.microsoft.com/office/drawing/2014/main" id="{7B9B3FCB-2EB9-1AB0-9D8A-E4251FB652CF}"/>
              </a:ext>
            </a:extLst>
          </p:cNvPr>
          <p:cNvGrpSpPr/>
          <p:nvPr/>
        </p:nvGrpSpPr>
        <p:grpSpPr>
          <a:xfrm>
            <a:off x="2479438" y="5301206"/>
            <a:ext cx="3800517" cy="615553"/>
            <a:chOff x="2199360" y="5353866"/>
            <a:chExt cx="3800517" cy="615553"/>
          </a:xfrm>
        </p:grpSpPr>
        <p:sp>
          <p:nvSpPr>
            <p:cNvPr id="26" name="TextBox 25">
              <a:extLst>
                <a:ext uri="{FF2B5EF4-FFF2-40B4-BE49-F238E27FC236}">
                  <a16:creationId xmlns:a16="http://schemas.microsoft.com/office/drawing/2014/main" id="{579C79F5-506C-5A5C-E38C-227B907D33AB}"/>
                </a:ext>
              </a:extLst>
            </p:cNvPr>
            <p:cNvSpPr txBox="1"/>
            <p:nvPr/>
          </p:nvSpPr>
          <p:spPr>
            <a:xfrm>
              <a:off x="2759517" y="5353866"/>
              <a:ext cx="3240360" cy="615553"/>
            </a:xfrm>
            <a:prstGeom prst="rect">
              <a:avLst/>
            </a:prstGeom>
            <a:noFill/>
          </p:spPr>
          <p:txBody>
            <a:bodyPr wrap="square">
              <a:spAutoFit/>
            </a:bodyPr>
            <a:lstStyle/>
            <a:p>
              <a:pPr>
                <a:buNone/>
              </a:pPr>
              <a:r>
                <a:rPr lang="en-US" b="1">
                  <a:latin typeface="Poppins" panose="00000500000000000000" pitchFamily="2" charset="0"/>
                  <a:cs typeface="Poppins" panose="00000500000000000000" pitchFamily="2" charset="0"/>
                </a:rPr>
                <a:t>Financial Information</a:t>
              </a:r>
            </a:p>
            <a:p>
              <a:r>
                <a:rPr lang="en-US" sz="1600" b="1">
                  <a:latin typeface="Aptos Narrow" panose="020B0004020202020204" pitchFamily="34" charset="0"/>
                </a:rPr>
                <a:t>Cost</a:t>
              </a:r>
              <a:r>
                <a:rPr lang="en-US" sz="1600">
                  <a:latin typeface="Aptos Narrow" panose="020B0004020202020204" pitchFamily="34" charset="0"/>
                </a:rPr>
                <a:t> , </a:t>
              </a:r>
              <a:r>
                <a:rPr lang="en-US" sz="1600" b="1">
                  <a:latin typeface="Aptos Narrow" panose="020B0004020202020204" pitchFamily="34" charset="0"/>
                </a:rPr>
                <a:t>Insurance</a:t>
              </a:r>
              <a:endParaRPr lang="en-US" sz="1600">
                <a:latin typeface="Aptos Narrow" panose="020B0004020202020204" pitchFamily="34" charset="0"/>
              </a:endParaRPr>
            </a:p>
          </p:txBody>
        </p:sp>
        <p:pic>
          <p:nvPicPr>
            <p:cNvPr id="36" name="Graphic 35" descr="Bank with solid fill">
              <a:extLst>
                <a:ext uri="{FF2B5EF4-FFF2-40B4-BE49-F238E27FC236}">
                  <a16:creationId xmlns:a16="http://schemas.microsoft.com/office/drawing/2014/main" id="{3C2D49A1-1BA5-8702-C9C1-8366F1422DB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199360" y="5353866"/>
              <a:ext cx="560157" cy="560157"/>
            </a:xfrm>
            <a:prstGeom prst="rect">
              <a:avLst/>
            </a:prstGeom>
          </p:spPr>
        </p:pic>
      </p:grpSp>
      <p:grpSp>
        <p:nvGrpSpPr>
          <p:cNvPr id="40" name="Group 39">
            <a:extLst>
              <a:ext uri="{FF2B5EF4-FFF2-40B4-BE49-F238E27FC236}">
                <a16:creationId xmlns:a16="http://schemas.microsoft.com/office/drawing/2014/main" id="{EC36402E-EA94-6C11-D6C9-2560364A4060}"/>
              </a:ext>
            </a:extLst>
          </p:cNvPr>
          <p:cNvGrpSpPr/>
          <p:nvPr/>
        </p:nvGrpSpPr>
        <p:grpSpPr>
          <a:xfrm>
            <a:off x="-9313" y="3896414"/>
            <a:ext cx="4663317" cy="1175415"/>
            <a:chOff x="-9313" y="3896414"/>
            <a:chExt cx="4663317" cy="1175415"/>
          </a:xfrm>
        </p:grpSpPr>
        <p:sp>
          <p:nvSpPr>
            <p:cNvPr id="24" name="TextBox 23">
              <a:extLst>
                <a:ext uri="{FF2B5EF4-FFF2-40B4-BE49-F238E27FC236}">
                  <a16:creationId xmlns:a16="http://schemas.microsoft.com/office/drawing/2014/main" id="{3C3D880B-56AC-D2C6-4253-A67E0F0B27D9}"/>
                </a:ext>
              </a:extLst>
            </p:cNvPr>
            <p:cNvSpPr txBox="1"/>
            <p:nvPr/>
          </p:nvSpPr>
          <p:spPr>
            <a:xfrm>
              <a:off x="563273" y="3933056"/>
              <a:ext cx="4090731" cy="1138773"/>
            </a:xfrm>
            <a:prstGeom prst="rect">
              <a:avLst/>
            </a:prstGeom>
            <a:noFill/>
          </p:spPr>
          <p:txBody>
            <a:bodyPr wrap="square" rtlCol="0">
              <a:spAutoFit/>
            </a:bodyPr>
            <a:lstStyle/>
            <a:p>
              <a:r>
                <a:rPr lang="en-US" b="1">
                  <a:latin typeface="Poppins" panose="00000500000000000000" pitchFamily="2" charset="0"/>
                  <a:cs typeface="Poppins" panose="00000500000000000000" pitchFamily="2" charset="0"/>
                </a:rPr>
                <a:t>Hospital &amp; Treatment Details</a:t>
              </a:r>
            </a:p>
            <a:p>
              <a:r>
                <a:rPr lang="en-US" sz="1600" b="1" err="1">
                  <a:latin typeface="Aptos Narrow "/>
                </a:rPr>
                <a:t>Doctor_Specialization</a:t>
              </a:r>
              <a:r>
                <a:rPr lang="en-US" sz="1600" b="1">
                  <a:latin typeface="Aptos Narrow "/>
                </a:rPr>
                <a:t>, </a:t>
              </a:r>
              <a:r>
                <a:rPr lang="en-US" sz="1600" b="1" err="1">
                  <a:latin typeface="Aptos Narrow "/>
                </a:rPr>
                <a:t>Appointment_Type</a:t>
              </a:r>
              <a:r>
                <a:rPr lang="en-US" sz="1600">
                  <a:latin typeface="Aptos Narrow "/>
                </a:rPr>
                <a:t>, </a:t>
              </a:r>
              <a:r>
                <a:rPr lang="en-US" sz="1600" b="1" err="1">
                  <a:latin typeface="Aptos Narrow "/>
                </a:rPr>
                <a:t>Admit_Type</a:t>
              </a:r>
              <a:r>
                <a:rPr lang="en-US" sz="1600">
                  <a:latin typeface="Aptos Narrow "/>
                </a:rPr>
                <a:t>, </a:t>
              </a:r>
              <a:r>
                <a:rPr lang="en-US" sz="1600" b="1" err="1">
                  <a:latin typeface="Aptos Narrow "/>
                </a:rPr>
                <a:t>ICU_Required</a:t>
              </a:r>
              <a:r>
                <a:rPr lang="en-US" sz="1600" b="1">
                  <a:latin typeface="Aptos Narrow "/>
                </a:rPr>
                <a:t>, Days, Visits</a:t>
              </a:r>
              <a:endParaRPr lang="en-US" sz="1600">
                <a:latin typeface="Aptos Narrow "/>
              </a:endParaRPr>
            </a:p>
            <a:p>
              <a:endParaRPr lang="en-US"/>
            </a:p>
          </p:txBody>
        </p:sp>
        <p:pic>
          <p:nvPicPr>
            <p:cNvPr id="39" name="Graphic 38" descr="Stethoscope with solid fill">
              <a:extLst>
                <a:ext uri="{FF2B5EF4-FFF2-40B4-BE49-F238E27FC236}">
                  <a16:creationId xmlns:a16="http://schemas.microsoft.com/office/drawing/2014/main" id="{B27D1E8C-7BBB-2837-5983-FBD354BFCBD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313" y="3896414"/>
              <a:ext cx="665954" cy="665954"/>
            </a:xfrm>
            <a:prstGeom prst="rect">
              <a:avLst/>
            </a:prstGeom>
          </p:spPr>
        </p:pic>
      </p:grpSp>
      <p:grpSp>
        <p:nvGrpSpPr>
          <p:cNvPr id="43" name="Group 42">
            <a:extLst>
              <a:ext uri="{FF2B5EF4-FFF2-40B4-BE49-F238E27FC236}">
                <a16:creationId xmlns:a16="http://schemas.microsoft.com/office/drawing/2014/main" id="{8E864544-C647-329A-3A1C-349E8218DAFD}"/>
              </a:ext>
            </a:extLst>
          </p:cNvPr>
          <p:cNvGrpSpPr/>
          <p:nvPr/>
        </p:nvGrpSpPr>
        <p:grpSpPr>
          <a:xfrm>
            <a:off x="4704156" y="3822535"/>
            <a:ext cx="3634735" cy="944037"/>
            <a:chOff x="4704156" y="3822535"/>
            <a:chExt cx="3634735" cy="944037"/>
          </a:xfrm>
        </p:grpSpPr>
        <p:sp>
          <p:nvSpPr>
            <p:cNvPr id="28" name="TextBox 27">
              <a:extLst>
                <a:ext uri="{FF2B5EF4-FFF2-40B4-BE49-F238E27FC236}">
                  <a16:creationId xmlns:a16="http://schemas.microsoft.com/office/drawing/2014/main" id="{8FB01ADC-E192-2274-4726-966060D0DCF7}"/>
                </a:ext>
              </a:extLst>
            </p:cNvPr>
            <p:cNvSpPr txBox="1"/>
            <p:nvPr/>
          </p:nvSpPr>
          <p:spPr>
            <a:xfrm>
              <a:off x="5235486" y="3904798"/>
              <a:ext cx="3103405" cy="861774"/>
            </a:xfrm>
            <a:prstGeom prst="rect">
              <a:avLst/>
            </a:prstGeom>
            <a:noFill/>
          </p:spPr>
          <p:txBody>
            <a:bodyPr wrap="square">
              <a:spAutoFit/>
            </a:bodyPr>
            <a:lstStyle/>
            <a:p>
              <a:pPr>
                <a:buNone/>
              </a:pPr>
              <a:r>
                <a:rPr lang="en-US" b="1">
                  <a:latin typeface="Poppins" panose="00000500000000000000" pitchFamily="2" charset="0"/>
                  <a:cs typeface="Poppins" panose="00000500000000000000" pitchFamily="2" charset="0"/>
                </a:rPr>
                <a:t>Medical Outcomes</a:t>
              </a:r>
            </a:p>
            <a:p>
              <a:r>
                <a:rPr lang="en-US" sz="1600" b="1">
                  <a:latin typeface="Aptos Narrow" panose="020B0004020202020204" pitchFamily="34" charset="0"/>
                </a:rPr>
                <a:t>Disease</a:t>
              </a:r>
              <a:r>
                <a:rPr lang="en-US" sz="1600">
                  <a:latin typeface="Aptos Narrow" panose="020B0004020202020204" pitchFamily="34" charset="0"/>
                </a:rPr>
                <a:t> </a:t>
              </a:r>
              <a:r>
                <a:rPr lang="en-US" sz="1600" b="1">
                  <a:latin typeface="Aptos Narrow" panose="020B0004020202020204" pitchFamily="34" charset="0"/>
                </a:rPr>
                <a:t>, Outcome, Readmitted, Status</a:t>
              </a:r>
              <a:endParaRPr lang="en-US" sz="1600">
                <a:latin typeface="Aptos Narrow" panose="020B0004020202020204" pitchFamily="34" charset="0"/>
              </a:endParaRPr>
            </a:p>
          </p:txBody>
        </p:sp>
        <p:pic>
          <p:nvPicPr>
            <p:cNvPr id="42" name="Graphic 41" descr="Bar chart with solid fill">
              <a:extLst>
                <a:ext uri="{FF2B5EF4-FFF2-40B4-BE49-F238E27FC236}">
                  <a16:creationId xmlns:a16="http://schemas.microsoft.com/office/drawing/2014/main" id="{274FB768-C6A7-FE86-A560-A9637CE52BF3}"/>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704156" y="3822535"/>
              <a:ext cx="577497" cy="577497"/>
            </a:xfrm>
            <a:prstGeom prst="rect">
              <a:avLst/>
            </a:prstGeom>
          </p:spPr>
        </p:pic>
      </p:grpSp>
    </p:spTree>
    <p:extLst>
      <p:ext uri="{BB962C8B-B14F-4D97-AF65-F5344CB8AC3E}">
        <p14:creationId xmlns:p14="http://schemas.microsoft.com/office/powerpoint/2010/main" val="15137805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11659" y="213261"/>
            <a:ext cx="6120680" cy="707886"/>
          </a:xfrm>
          <a:prstGeom prst="rect">
            <a:avLst/>
          </a:prstGeom>
          <a:noFill/>
        </p:spPr>
        <p:txBody>
          <a:bodyPr wrap="square" rtlCol="0">
            <a:spAutoFit/>
          </a:bodyPr>
          <a:lstStyle/>
          <a:p>
            <a:pPr algn="ctr"/>
            <a:r>
              <a:rPr lang="en-IN" sz="4000" b="1">
                <a:latin typeface="Lora" pitchFamily="2" charset="0"/>
              </a:rPr>
              <a:t>Data Preprocessing</a:t>
            </a:r>
          </a:p>
        </p:txBody>
      </p:sp>
      <p:pic>
        <p:nvPicPr>
          <p:cNvPr id="7" name="Picture 6">
            <a:extLst>
              <a:ext uri="{FF2B5EF4-FFF2-40B4-BE49-F238E27FC236}">
                <a16:creationId xmlns:a16="http://schemas.microsoft.com/office/drawing/2014/main" id="{7FA84A1F-8923-3D5D-B6AA-EB216F7763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3468" y="1052736"/>
            <a:ext cx="6897063" cy="4929320"/>
          </a:xfrm>
          <a:prstGeom prst="rect">
            <a:avLst/>
          </a:prstGeom>
        </p:spPr>
      </p:pic>
    </p:spTree>
    <p:extLst>
      <p:ext uri="{BB962C8B-B14F-4D97-AF65-F5344CB8AC3E}">
        <p14:creationId xmlns:p14="http://schemas.microsoft.com/office/powerpoint/2010/main" val="1627563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79712" y="116632"/>
            <a:ext cx="5256584" cy="707886"/>
          </a:xfrm>
          <a:prstGeom prst="rect">
            <a:avLst/>
          </a:prstGeom>
          <a:noFill/>
        </p:spPr>
        <p:txBody>
          <a:bodyPr wrap="square" rtlCol="0">
            <a:spAutoFit/>
          </a:bodyPr>
          <a:lstStyle/>
          <a:p>
            <a:pPr algn="ctr"/>
            <a:r>
              <a:rPr lang="en-IN" sz="4000" b="1">
                <a:latin typeface="Lora" pitchFamily="2" charset="0"/>
              </a:rPr>
              <a:t>Feature Selection</a:t>
            </a:r>
          </a:p>
        </p:txBody>
      </p:sp>
      <p:sp>
        <p:nvSpPr>
          <p:cNvPr id="4" name="TextBox 3">
            <a:extLst>
              <a:ext uri="{FF2B5EF4-FFF2-40B4-BE49-F238E27FC236}">
                <a16:creationId xmlns:a16="http://schemas.microsoft.com/office/drawing/2014/main" id="{F6E26F61-ABCA-6C59-4373-FAEFAFEBB153}"/>
              </a:ext>
            </a:extLst>
          </p:cNvPr>
          <p:cNvSpPr txBox="1"/>
          <p:nvPr/>
        </p:nvSpPr>
        <p:spPr>
          <a:xfrm>
            <a:off x="418055" y="827718"/>
            <a:ext cx="8280920" cy="646331"/>
          </a:xfrm>
          <a:prstGeom prst="rect">
            <a:avLst/>
          </a:prstGeom>
          <a:noFill/>
        </p:spPr>
        <p:txBody>
          <a:bodyPr wrap="square" rtlCol="0">
            <a:spAutoFit/>
          </a:bodyPr>
          <a:lstStyle/>
          <a:p>
            <a:r>
              <a:rPr lang="en-US">
                <a:latin typeface="Aptos Display" panose="020B0004020202020204" pitchFamily="34" charset="0"/>
              </a:rPr>
              <a:t>To improve model accuracy and reduce complexity, the most relevant health-related features were selected based on correlation analysis and domain knowledge.</a:t>
            </a:r>
          </a:p>
        </p:txBody>
      </p:sp>
      <p:sp>
        <p:nvSpPr>
          <p:cNvPr id="6" name="TextBox 5">
            <a:extLst>
              <a:ext uri="{FF2B5EF4-FFF2-40B4-BE49-F238E27FC236}">
                <a16:creationId xmlns:a16="http://schemas.microsoft.com/office/drawing/2014/main" id="{B428499A-325D-6DF8-E8A5-E752995B3032}"/>
              </a:ext>
            </a:extLst>
          </p:cNvPr>
          <p:cNvSpPr txBox="1"/>
          <p:nvPr/>
        </p:nvSpPr>
        <p:spPr>
          <a:xfrm>
            <a:off x="436972" y="2276872"/>
            <a:ext cx="7668852" cy="4278094"/>
          </a:xfrm>
          <a:prstGeom prst="rect">
            <a:avLst/>
          </a:prstGeom>
          <a:noFill/>
        </p:spPr>
        <p:txBody>
          <a:bodyPr wrap="square">
            <a:spAutoFit/>
          </a:bodyPr>
          <a:lstStyle/>
          <a:p>
            <a:pPr marL="285750" indent="-285750">
              <a:buFont typeface="Wingdings" panose="05000000000000000000" pitchFamily="2" charset="2"/>
              <a:buChar char="q"/>
            </a:pPr>
            <a:r>
              <a:rPr lang="en-US" sz="1600" b="1">
                <a:latin typeface="Aptos Narrow" panose="020B0004020202020204" pitchFamily="34" charset="0"/>
                <a:cs typeface="Poppins" panose="00000500000000000000" pitchFamily="2" charset="0"/>
              </a:rPr>
              <a:t>Age</a:t>
            </a:r>
            <a:r>
              <a:rPr lang="en-US" sz="1600">
                <a:latin typeface="Aptos Narrow" panose="020B0004020202020204" pitchFamily="34" charset="0"/>
                <a:cs typeface="Poppins" panose="00000500000000000000" pitchFamily="2" charset="0"/>
              </a:rPr>
              <a:t> – Influences disease risk and treatment cost</a:t>
            </a:r>
          </a:p>
          <a:p>
            <a:endParaRPr lang="en-US" sz="1600">
              <a:latin typeface="Aptos Narrow" panose="020B0004020202020204" pitchFamily="34" charset="0"/>
              <a:cs typeface="Poppins" panose="00000500000000000000" pitchFamily="2" charset="0"/>
            </a:endParaRPr>
          </a:p>
          <a:p>
            <a:pPr marL="285750" indent="-285750">
              <a:buFont typeface="Wingdings" panose="05000000000000000000" pitchFamily="2" charset="2"/>
              <a:buChar char="q"/>
            </a:pPr>
            <a:r>
              <a:rPr lang="en-US" sz="1600" b="1">
                <a:latin typeface="Aptos Narrow" panose="020B0004020202020204" pitchFamily="34" charset="0"/>
                <a:cs typeface="Poppins" panose="00000500000000000000" pitchFamily="2" charset="0"/>
              </a:rPr>
              <a:t>Height (cm)</a:t>
            </a:r>
            <a:r>
              <a:rPr lang="en-US" sz="1600">
                <a:latin typeface="Aptos Narrow" panose="020B0004020202020204" pitchFamily="34" charset="0"/>
                <a:cs typeface="Poppins" panose="00000500000000000000" pitchFamily="2" charset="0"/>
              </a:rPr>
              <a:t> – Used for physical assessment and BMI calculation</a:t>
            </a:r>
          </a:p>
          <a:p>
            <a:endParaRPr lang="en-US" sz="1600">
              <a:latin typeface="Aptos Narrow" panose="020B0004020202020204" pitchFamily="34" charset="0"/>
              <a:cs typeface="Poppins" panose="00000500000000000000" pitchFamily="2" charset="0"/>
            </a:endParaRPr>
          </a:p>
          <a:p>
            <a:pPr marL="285750" indent="-285750">
              <a:buFont typeface="Wingdings" panose="05000000000000000000" pitchFamily="2" charset="2"/>
              <a:buChar char="q"/>
            </a:pPr>
            <a:r>
              <a:rPr lang="en-US" sz="1600" b="1">
                <a:latin typeface="Aptos Narrow" panose="020B0004020202020204" pitchFamily="34" charset="0"/>
                <a:cs typeface="Poppins" panose="00000500000000000000" pitchFamily="2" charset="0"/>
              </a:rPr>
              <a:t>Weight (kg)</a:t>
            </a:r>
            <a:r>
              <a:rPr lang="en-US" sz="1600">
                <a:latin typeface="Aptos Narrow" panose="020B0004020202020204" pitchFamily="34" charset="0"/>
                <a:cs typeface="Poppins" panose="00000500000000000000" pitchFamily="2" charset="0"/>
              </a:rPr>
              <a:t> – Indicates body condition and health risk</a:t>
            </a:r>
          </a:p>
          <a:p>
            <a:endParaRPr lang="en-US" sz="1600">
              <a:latin typeface="Aptos Narrow" panose="020B0004020202020204" pitchFamily="34" charset="0"/>
              <a:cs typeface="Poppins" panose="00000500000000000000" pitchFamily="2" charset="0"/>
            </a:endParaRPr>
          </a:p>
          <a:p>
            <a:pPr marL="285750" indent="-285750">
              <a:buFont typeface="Wingdings" panose="05000000000000000000" pitchFamily="2" charset="2"/>
              <a:buChar char="q"/>
            </a:pPr>
            <a:r>
              <a:rPr lang="en-US" sz="1600" b="1">
                <a:latin typeface="Aptos Narrow" panose="020B0004020202020204" pitchFamily="34" charset="0"/>
                <a:cs typeface="Poppins" panose="00000500000000000000" pitchFamily="2" charset="0"/>
              </a:rPr>
              <a:t>Blood Pressure (BP)</a:t>
            </a:r>
            <a:r>
              <a:rPr lang="en-US" sz="1600">
                <a:latin typeface="Aptos Narrow" panose="020B0004020202020204" pitchFamily="34" charset="0"/>
                <a:cs typeface="Poppins" panose="00000500000000000000" pitchFamily="2" charset="0"/>
              </a:rPr>
              <a:t> – Key indicator of cardiovascular health</a:t>
            </a:r>
          </a:p>
          <a:p>
            <a:endParaRPr lang="en-US" sz="1600">
              <a:latin typeface="Aptos Narrow" panose="020B0004020202020204" pitchFamily="34" charset="0"/>
              <a:cs typeface="Poppins" panose="00000500000000000000" pitchFamily="2" charset="0"/>
            </a:endParaRPr>
          </a:p>
          <a:p>
            <a:pPr marL="285750" indent="-285750">
              <a:buFont typeface="Wingdings" panose="05000000000000000000" pitchFamily="2" charset="2"/>
              <a:buChar char="q"/>
            </a:pPr>
            <a:r>
              <a:rPr lang="en-US" sz="1600" b="1">
                <a:latin typeface="Aptos Narrow" panose="020B0004020202020204" pitchFamily="34" charset="0"/>
                <a:cs typeface="Poppins" panose="00000500000000000000" pitchFamily="2" charset="0"/>
              </a:rPr>
              <a:t>Sugar Level</a:t>
            </a:r>
            <a:r>
              <a:rPr lang="en-US" sz="1600">
                <a:latin typeface="Aptos Narrow" panose="020B0004020202020204" pitchFamily="34" charset="0"/>
                <a:cs typeface="Poppins" panose="00000500000000000000" pitchFamily="2" charset="0"/>
              </a:rPr>
              <a:t> – Important for diabetes and metabolic conditions</a:t>
            </a:r>
          </a:p>
          <a:p>
            <a:endParaRPr lang="en-US" sz="1600">
              <a:latin typeface="Aptos Narrow" panose="020B0004020202020204" pitchFamily="34" charset="0"/>
              <a:cs typeface="Poppins" panose="00000500000000000000" pitchFamily="2" charset="0"/>
            </a:endParaRPr>
          </a:p>
          <a:p>
            <a:pPr marL="285750" indent="-285750">
              <a:buFont typeface="Wingdings" panose="05000000000000000000" pitchFamily="2" charset="2"/>
              <a:buChar char="q"/>
            </a:pPr>
            <a:r>
              <a:rPr lang="en-US" sz="1600" b="1">
                <a:latin typeface="Aptos Narrow" panose="020B0004020202020204" pitchFamily="34" charset="0"/>
                <a:cs typeface="Poppins" panose="00000500000000000000" pitchFamily="2" charset="0"/>
              </a:rPr>
              <a:t>Cholesterol Level</a:t>
            </a:r>
            <a:r>
              <a:rPr lang="en-US" sz="1600">
                <a:latin typeface="Aptos Narrow" panose="020B0004020202020204" pitchFamily="34" charset="0"/>
                <a:cs typeface="Poppins" panose="00000500000000000000" pitchFamily="2" charset="0"/>
              </a:rPr>
              <a:t> – Associated with heart disease risk</a:t>
            </a:r>
          </a:p>
          <a:p>
            <a:pPr marL="285750" indent="-285750">
              <a:buFont typeface="Wingdings" panose="05000000000000000000" pitchFamily="2" charset="2"/>
              <a:buChar char="q"/>
            </a:pPr>
            <a:endParaRPr lang="en-US" sz="1600">
              <a:latin typeface="Aptos Narrow" panose="020B0004020202020204" pitchFamily="34" charset="0"/>
              <a:cs typeface="Poppins" panose="00000500000000000000" pitchFamily="2" charset="0"/>
            </a:endParaRPr>
          </a:p>
          <a:p>
            <a:pPr marL="285750" indent="-285750">
              <a:buFont typeface="Wingdings" panose="05000000000000000000" pitchFamily="2" charset="2"/>
              <a:buChar char="q"/>
            </a:pPr>
            <a:r>
              <a:rPr lang="en-US" sz="1600" b="1">
                <a:latin typeface="Aptos Narrow" panose="020B0004020202020204" pitchFamily="34" charset="0"/>
                <a:cs typeface="Poppins" panose="00000500000000000000" pitchFamily="2" charset="0"/>
              </a:rPr>
              <a:t>Days in Hospital</a:t>
            </a:r>
            <a:r>
              <a:rPr lang="en-US" sz="1600">
                <a:latin typeface="Aptos Narrow" panose="020B0004020202020204" pitchFamily="34" charset="0"/>
                <a:cs typeface="Poppins" panose="00000500000000000000" pitchFamily="2" charset="0"/>
              </a:rPr>
              <a:t> – Reflects severity of illness and treatment duration</a:t>
            </a:r>
          </a:p>
          <a:p>
            <a:endParaRPr lang="en-US" sz="1600">
              <a:latin typeface="Aptos Narrow" panose="020B0004020202020204" pitchFamily="34" charset="0"/>
              <a:cs typeface="Poppins" panose="00000500000000000000" pitchFamily="2" charset="0"/>
            </a:endParaRPr>
          </a:p>
          <a:p>
            <a:pPr marL="285750" indent="-285750">
              <a:buFont typeface="Wingdings" panose="05000000000000000000" pitchFamily="2" charset="2"/>
              <a:buChar char="q"/>
            </a:pPr>
            <a:r>
              <a:rPr lang="en-US" sz="1600" b="1">
                <a:latin typeface="Aptos Narrow" panose="020B0004020202020204" pitchFamily="34" charset="0"/>
                <a:cs typeface="Poppins" panose="00000500000000000000" pitchFamily="2" charset="0"/>
              </a:rPr>
              <a:t>Number of Visits</a:t>
            </a:r>
            <a:r>
              <a:rPr lang="en-US" sz="1600">
                <a:latin typeface="Aptos Narrow" panose="020B0004020202020204" pitchFamily="34" charset="0"/>
                <a:cs typeface="Poppins" panose="00000500000000000000" pitchFamily="2" charset="0"/>
              </a:rPr>
              <a:t> – Indicates frequency of medical attention required</a:t>
            </a:r>
          </a:p>
          <a:p>
            <a:endParaRPr lang="en-US" sz="1600">
              <a:latin typeface="Aptos Narrow" panose="020B0004020202020204" pitchFamily="34" charset="0"/>
              <a:cs typeface="Poppins" panose="00000500000000000000" pitchFamily="2" charset="0"/>
            </a:endParaRPr>
          </a:p>
          <a:p>
            <a:pPr marL="285750" indent="-285750">
              <a:buFont typeface="Wingdings" panose="05000000000000000000" pitchFamily="2" charset="2"/>
              <a:buChar char="q"/>
            </a:pPr>
            <a:r>
              <a:rPr lang="en-US" sz="1600" b="1">
                <a:latin typeface="Aptos Narrow" panose="020B0004020202020204" pitchFamily="34" charset="0"/>
                <a:cs typeface="Poppins" panose="00000500000000000000" pitchFamily="2" charset="0"/>
              </a:rPr>
              <a:t>Treatment Cost</a:t>
            </a:r>
            <a:r>
              <a:rPr lang="en-US" sz="1600">
                <a:latin typeface="Aptos Narrow" panose="020B0004020202020204" pitchFamily="34" charset="0"/>
                <a:cs typeface="Poppins" panose="00000500000000000000" pitchFamily="2" charset="0"/>
              </a:rPr>
              <a:t> – Primary target variable for prediction</a:t>
            </a:r>
          </a:p>
        </p:txBody>
      </p:sp>
      <p:sp>
        <p:nvSpPr>
          <p:cNvPr id="7" name="TextBox 6">
            <a:extLst>
              <a:ext uri="{FF2B5EF4-FFF2-40B4-BE49-F238E27FC236}">
                <a16:creationId xmlns:a16="http://schemas.microsoft.com/office/drawing/2014/main" id="{3E0806FD-3A0E-F526-F8A7-D338E94B9959}"/>
              </a:ext>
            </a:extLst>
          </p:cNvPr>
          <p:cNvSpPr txBox="1"/>
          <p:nvPr/>
        </p:nvSpPr>
        <p:spPr>
          <a:xfrm>
            <a:off x="611560" y="1700808"/>
            <a:ext cx="4608512" cy="400110"/>
          </a:xfrm>
          <a:prstGeom prst="rect">
            <a:avLst/>
          </a:prstGeom>
          <a:noFill/>
        </p:spPr>
        <p:txBody>
          <a:bodyPr wrap="square" rtlCol="0">
            <a:spAutoFit/>
          </a:bodyPr>
          <a:lstStyle/>
          <a:p>
            <a:r>
              <a:rPr lang="en-US" sz="2000" b="1">
                <a:latin typeface="Poppins" panose="00000500000000000000" pitchFamily="2" charset="0"/>
                <a:cs typeface="Poppins" panose="00000500000000000000" pitchFamily="2" charset="0"/>
              </a:rPr>
              <a:t>Selected Features</a:t>
            </a:r>
          </a:p>
        </p:txBody>
      </p:sp>
    </p:spTree>
    <p:extLst>
      <p:ext uri="{BB962C8B-B14F-4D97-AF65-F5344CB8AC3E}">
        <p14:creationId xmlns:p14="http://schemas.microsoft.com/office/powerpoint/2010/main" val="28363109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Diagonal Corners Rounded 11">
            <a:extLst>
              <a:ext uri="{FF2B5EF4-FFF2-40B4-BE49-F238E27FC236}">
                <a16:creationId xmlns:a16="http://schemas.microsoft.com/office/drawing/2014/main" id="{3A3039AF-B87B-D740-F03C-7224C0071C98}"/>
              </a:ext>
            </a:extLst>
          </p:cNvPr>
          <p:cNvSpPr/>
          <p:nvPr/>
        </p:nvSpPr>
        <p:spPr>
          <a:xfrm>
            <a:off x="1151620" y="2304315"/>
            <a:ext cx="6624736" cy="1124685"/>
          </a:xfrm>
          <a:prstGeom prst="round2DiagRect">
            <a:avLst>
              <a:gd name="adj1" fmla="val 16667"/>
              <a:gd name="adj2" fmla="val 1386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1088613" y="5295"/>
            <a:ext cx="6930770" cy="584775"/>
          </a:xfrm>
          <a:prstGeom prst="rect">
            <a:avLst/>
          </a:prstGeom>
          <a:noFill/>
        </p:spPr>
        <p:txBody>
          <a:bodyPr wrap="square" rtlCol="0">
            <a:spAutoFit/>
          </a:bodyPr>
          <a:lstStyle/>
          <a:p>
            <a:pPr algn="ctr"/>
            <a:r>
              <a:rPr lang="en-IN" sz="3200" b="1">
                <a:latin typeface="Lora" pitchFamily="2" charset="0"/>
              </a:rPr>
              <a:t>Machine Learning Models Used</a:t>
            </a:r>
          </a:p>
        </p:txBody>
      </p:sp>
      <p:sp>
        <p:nvSpPr>
          <p:cNvPr id="4" name="TextBox 3">
            <a:extLst>
              <a:ext uri="{FF2B5EF4-FFF2-40B4-BE49-F238E27FC236}">
                <a16:creationId xmlns:a16="http://schemas.microsoft.com/office/drawing/2014/main" id="{8CD40772-CE65-E814-EBC6-622101ACCD77}"/>
              </a:ext>
            </a:extLst>
          </p:cNvPr>
          <p:cNvSpPr txBox="1"/>
          <p:nvPr/>
        </p:nvSpPr>
        <p:spPr>
          <a:xfrm>
            <a:off x="1340266" y="2304315"/>
            <a:ext cx="6192688" cy="1292662"/>
          </a:xfrm>
          <a:prstGeom prst="rect">
            <a:avLst/>
          </a:prstGeom>
          <a:noFill/>
        </p:spPr>
        <p:txBody>
          <a:bodyPr wrap="square" rtlCol="0">
            <a:spAutoFit/>
          </a:bodyPr>
          <a:lstStyle/>
          <a:p>
            <a:r>
              <a:rPr lang="en-US" b="1">
                <a:solidFill>
                  <a:schemeClr val="bg1">
                    <a:lumMod val="95000"/>
                    <a:lumOff val="5000"/>
                  </a:schemeClr>
                </a:solidFill>
                <a:latin typeface="Bahnschrift Light SemiCondensed" panose="020B0502040204020203" pitchFamily="34" charset="0"/>
              </a:rPr>
              <a:t>          K-Nearest Neighbors (KNN)</a:t>
            </a:r>
            <a:endParaRPr lang="en-US">
              <a:solidFill>
                <a:schemeClr val="bg1">
                  <a:lumMod val="95000"/>
                  <a:lumOff val="5000"/>
                </a:schemeClr>
              </a:solidFill>
              <a:latin typeface="Bahnschrift Light SemiCondensed" panose="020B0502040204020203" pitchFamily="34" charset="0"/>
            </a:endParaRPr>
          </a:p>
          <a:p>
            <a:pPr marL="742950" lvl="1" indent="-285750">
              <a:buFont typeface="Wingdings" panose="05000000000000000000" pitchFamily="2" charset="2"/>
              <a:buChar char="v"/>
            </a:pPr>
            <a:r>
              <a:rPr lang="en-US" sz="1400">
                <a:solidFill>
                  <a:schemeClr val="bg1">
                    <a:lumMod val="95000"/>
                    <a:lumOff val="5000"/>
                  </a:schemeClr>
                </a:solidFill>
                <a:latin typeface="Aptos Display" panose="020B0004020202020204" pitchFamily="34" charset="0"/>
              </a:rPr>
              <a:t>Distance-based algorithm</a:t>
            </a:r>
          </a:p>
          <a:p>
            <a:pPr marL="742950" lvl="1" indent="-285750">
              <a:buFont typeface="Wingdings" panose="05000000000000000000" pitchFamily="2" charset="2"/>
              <a:buChar char="v"/>
            </a:pPr>
            <a:r>
              <a:rPr lang="en-US" sz="1400">
                <a:solidFill>
                  <a:schemeClr val="bg1">
                    <a:lumMod val="95000"/>
                    <a:lumOff val="5000"/>
                  </a:schemeClr>
                </a:solidFill>
                <a:latin typeface="Aptos Display" panose="020B0004020202020204" pitchFamily="34" charset="0"/>
              </a:rPr>
              <a:t>Classifies patients based on similarity to nearby data points</a:t>
            </a:r>
          </a:p>
          <a:p>
            <a:pPr marL="742950" lvl="1" indent="-285750">
              <a:buFont typeface="Wingdings" panose="05000000000000000000" pitchFamily="2" charset="2"/>
              <a:buChar char="v"/>
            </a:pPr>
            <a:r>
              <a:rPr lang="en-US" sz="1400">
                <a:solidFill>
                  <a:schemeClr val="bg1">
                    <a:lumMod val="95000"/>
                    <a:lumOff val="5000"/>
                  </a:schemeClr>
                </a:solidFill>
                <a:latin typeface="Aptos Display" panose="020B0004020202020204" pitchFamily="34" charset="0"/>
              </a:rPr>
              <a:t>Useful for pattern recognition in patient health profiles</a:t>
            </a:r>
          </a:p>
          <a:p>
            <a:endParaRPr lang="en-US"/>
          </a:p>
        </p:txBody>
      </p:sp>
      <p:sp>
        <p:nvSpPr>
          <p:cNvPr id="5" name="TextBox 4">
            <a:extLst>
              <a:ext uri="{FF2B5EF4-FFF2-40B4-BE49-F238E27FC236}">
                <a16:creationId xmlns:a16="http://schemas.microsoft.com/office/drawing/2014/main" id="{B7E84DC4-7681-CBB5-131D-E5620B1D2EBB}"/>
              </a:ext>
            </a:extLst>
          </p:cNvPr>
          <p:cNvSpPr txBox="1"/>
          <p:nvPr/>
        </p:nvSpPr>
        <p:spPr>
          <a:xfrm>
            <a:off x="1151620" y="677698"/>
            <a:ext cx="3024336" cy="400110"/>
          </a:xfrm>
          <a:prstGeom prst="rect">
            <a:avLst/>
          </a:prstGeom>
          <a:noFill/>
        </p:spPr>
        <p:txBody>
          <a:bodyPr wrap="square" rtlCol="0">
            <a:spAutoFit/>
          </a:bodyPr>
          <a:lstStyle/>
          <a:p>
            <a:r>
              <a:rPr lang="en-US" sz="2000" b="1">
                <a:latin typeface="Poppins" panose="00000500000000000000" pitchFamily="2" charset="0"/>
                <a:cs typeface="Poppins" panose="00000500000000000000" pitchFamily="2" charset="0"/>
              </a:rPr>
              <a:t>Classification Models</a:t>
            </a:r>
          </a:p>
        </p:txBody>
      </p:sp>
      <p:pic>
        <p:nvPicPr>
          <p:cNvPr id="7" name="Graphic 6" descr="Bullseye with solid fill">
            <a:extLst>
              <a:ext uri="{FF2B5EF4-FFF2-40B4-BE49-F238E27FC236}">
                <a16:creationId xmlns:a16="http://schemas.microsoft.com/office/drawing/2014/main" id="{F1B25A01-9971-AD17-1565-05D70E6C8C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5148" y="528523"/>
            <a:ext cx="698460" cy="698460"/>
          </a:xfrm>
          <a:prstGeom prst="rect">
            <a:avLst/>
          </a:prstGeom>
        </p:spPr>
      </p:pic>
      <p:sp>
        <p:nvSpPr>
          <p:cNvPr id="9" name="Rectangle: Diagonal Corners Rounded 8">
            <a:extLst>
              <a:ext uri="{FF2B5EF4-FFF2-40B4-BE49-F238E27FC236}">
                <a16:creationId xmlns:a16="http://schemas.microsoft.com/office/drawing/2014/main" id="{6ED5E8CC-262A-75D5-7D86-494B35DCD6E9}"/>
              </a:ext>
            </a:extLst>
          </p:cNvPr>
          <p:cNvSpPr/>
          <p:nvPr/>
        </p:nvSpPr>
        <p:spPr>
          <a:xfrm>
            <a:off x="1133618" y="1119724"/>
            <a:ext cx="6624736" cy="1016614"/>
          </a:xfrm>
          <a:prstGeom prst="round2DiagRect">
            <a:avLst>
              <a:gd name="adj1" fmla="val 16667"/>
              <a:gd name="adj2" fmla="val 1386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8CEB7A0-8174-503E-9623-ECAF32E2D36C}"/>
              </a:ext>
            </a:extLst>
          </p:cNvPr>
          <p:cNvSpPr txBox="1"/>
          <p:nvPr/>
        </p:nvSpPr>
        <p:spPr>
          <a:xfrm>
            <a:off x="1349642" y="1119724"/>
            <a:ext cx="6408712" cy="870375"/>
          </a:xfrm>
          <a:prstGeom prst="rect">
            <a:avLst/>
          </a:prstGeom>
          <a:noFill/>
        </p:spPr>
        <p:txBody>
          <a:bodyPr wrap="square" rtlCol="0">
            <a:spAutoFit/>
          </a:bodyPr>
          <a:lstStyle/>
          <a:p>
            <a:r>
              <a:rPr lang="en-US" b="1">
                <a:solidFill>
                  <a:schemeClr val="bg1">
                    <a:lumMod val="95000"/>
                    <a:lumOff val="5000"/>
                  </a:schemeClr>
                </a:solidFill>
                <a:latin typeface="Bahnschrift SemiBold" panose="020B0502040204020203" pitchFamily="34" charset="0"/>
              </a:rPr>
              <a:t>        Random Forest Classifier</a:t>
            </a:r>
            <a:endParaRPr lang="en-US">
              <a:solidFill>
                <a:schemeClr val="bg1">
                  <a:lumMod val="95000"/>
                  <a:lumOff val="5000"/>
                </a:schemeClr>
              </a:solidFill>
              <a:latin typeface="Bahnschrift SemiBold" panose="020B0502040204020203" pitchFamily="34" charset="0"/>
            </a:endParaRPr>
          </a:p>
          <a:p>
            <a:pPr marL="742950" lvl="1" indent="-285750">
              <a:buFont typeface="Wingdings" panose="05000000000000000000" pitchFamily="2" charset="2"/>
              <a:buChar char="v"/>
            </a:pPr>
            <a:r>
              <a:rPr lang="en-US" sz="1400">
                <a:solidFill>
                  <a:schemeClr val="bg1">
                    <a:lumMod val="95000"/>
                    <a:lumOff val="5000"/>
                  </a:schemeClr>
                </a:solidFill>
                <a:latin typeface="Aptos Display" panose="020B0004020202020204" pitchFamily="34" charset="0"/>
              </a:rPr>
              <a:t>Ensemble-based model using multiple decision trees</a:t>
            </a:r>
          </a:p>
          <a:p>
            <a:pPr marL="742950" lvl="1" indent="-285750">
              <a:buFont typeface="Wingdings" panose="05000000000000000000" pitchFamily="2" charset="2"/>
              <a:buChar char="v"/>
            </a:pPr>
            <a:r>
              <a:rPr lang="en-US" sz="1400">
                <a:solidFill>
                  <a:schemeClr val="bg1">
                    <a:lumMod val="95000"/>
                    <a:lumOff val="5000"/>
                  </a:schemeClr>
                </a:solidFill>
                <a:latin typeface="Aptos Display" panose="020B0004020202020204" pitchFamily="34" charset="0"/>
              </a:rPr>
              <a:t>Handles complex relationships and reduces overfitting</a:t>
            </a:r>
          </a:p>
          <a:p>
            <a:pPr marL="742950" lvl="1" indent="-285750">
              <a:buFont typeface="Wingdings" panose="05000000000000000000" pitchFamily="2" charset="2"/>
              <a:buChar char="v"/>
            </a:pPr>
            <a:r>
              <a:rPr lang="en-US" sz="1400">
                <a:solidFill>
                  <a:schemeClr val="bg1">
                    <a:lumMod val="95000"/>
                    <a:lumOff val="5000"/>
                  </a:schemeClr>
                </a:solidFill>
                <a:latin typeface="Aptos Display" panose="020B0004020202020204" pitchFamily="34" charset="0"/>
              </a:rPr>
              <a:t>Provides high accuracy and feature importance</a:t>
            </a:r>
          </a:p>
        </p:txBody>
      </p:sp>
      <p:grpSp>
        <p:nvGrpSpPr>
          <p:cNvPr id="19" name="Group 18">
            <a:extLst>
              <a:ext uri="{FF2B5EF4-FFF2-40B4-BE49-F238E27FC236}">
                <a16:creationId xmlns:a16="http://schemas.microsoft.com/office/drawing/2014/main" id="{7ACD05C9-168C-0B93-DDF9-B842CE33AF71}"/>
              </a:ext>
            </a:extLst>
          </p:cNvPr>
          <p:cNvGrpSpPr/>
          <p:nvPr/>
        </p:nvGrpSpPr>
        <p:grpSpPr>
          <a:xfrm>
            <a:off x="1108797" y="3576265"/>
            <a:ext cx="6667559" cy="1037327"/>
            <a:chOff x="1108797" y="3576265"/>
            <a:chExt cx="6667559" cy="1037327"/>
          </a:xfrm>
        </p:grpSpPr>
        <p:sp>
          <p:nvSpPr>
            <p:cNvPr id="13" name="Rectangle: Diagonal Corners Rounded 12">
              <a:extLst>
                <a:ext uri="{FF2B5EF4-FFF2-40B4-BE49-F238E27FC236}">
                  <a16:creationId xmlns:a16="http://schemas.microsoft.com/office/drawing/2014/main" id="{9C71D5B4-F0D0-1294-6CC7-80F65BECBA8F}"/>
                </a:ext>
              </a:extLst>
            </p:cNvPr>
            <p:cNvSpPr/>
            <p:nvPr/>
          </p:nvSpPr>
          <p:spPr>
            <a:xfrm>
              <a:off x="1108797" y="3596977"/>
              <a:ext cx="6667559" cy="1016615"/>
            </a:xfrm>
            <a:prstGeom prst="round2DiagRect">
              <a:avLst>
                <a:gd name="adj1" fmla="val 16667"/>
                <a:gd name="adj2" fmla="val 1386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50E4C11-546B-64C5-3DEB-765A85D363C6}"/>
                </a:ext>
              </a:extLst>
            </p:cNvPr>
            <p:cNvSpPr txBox="1"/>
            <p:nvPr/>
          </p:nvSpPr>
          <p:spPr>
            <a:xfrm>
              <a:off x="1889702" y="3576265"/>
              <a:ext cx="5688632" cy="1015663"/>
            </a:xfrm>
            <a:prstGeom prst="rect">
              <a:avLst/>
            </a:prstGeom>
            <a:noFill/>
          </p:spPr>
          <p:txBody>
            <a:bodyPr wrap="square" rtlCol="0">
              <a:spAutoFit/>
            </a:bodyPr>
            <a:lstStyle/>
            <a:p>
              <a:r>
                <a:rPr lang="en-US" b="1">
                  <a:solidFill>
                    <a:schemeClr val="bg1">
                      <a:lumMod val="95000"/>
                      <a:lumOff val="5000"/>
                    </a:schemeClr>
                  </a:solidFill>
                  <a:latin typeface="Bahnschrift Light SemiCondensed" panose="020B0502040204020203" pitchFamily="34" charset="0"/>
                </a:rPr>
                <a:t>Logistic Regression</a:t>
              </a:r>
              <a:endParaRPr lang="en-US">
                <a:solidFill>
                  <a:schemeClr val="bg1">
                    <a:lumMod val="95000"/>
                    <a:lumOff val="5000"/>
                  </a:schemeClr>
                </a:solidFill>
                <a:latin typeface="Bahnschrift Light SemiCondensed" panose="020B0502040204020203" pitchFamily="34" charset="0"/>
              </a:endParaRPr>
            </a:p>
            <a:p>
              <a:pPr marL="285750" indent="-285750">
                <a:buFont typeface="Wingdings" panose="05000000000000000000" pitchFamily="2" charset="2"/>
                <a:buChar char="v"/>
              </a:pPr>
              <a:r>
                <a:rPr lang="en-US" sz="1400">
                  <a:solidFill>
                    <a:schemeClr val="bg1">
                      <a:lumMod val="95000"/>
                      <a:lumOff val="5000"/>
                    </a:schemeClr>
                  </a:solidFill>
                  <a:latin typeface="Aptos Display" panose="020B0004020202020204" pitchFamily="34" charset="0"/>
                </a:rPr>
                <a:t>Simple and interpretable linear classification model</a:t>
              </a:r>
            </a:p>
            <a:p>
              <a:pPr marL="285750" indent="-285750">
                <a:buFont typeface="Wingdings" panose="05000000000000000000" pitchFamily="2" charset="2"/>
                <a:buChar char="v"/>
              </a:pPr>
              <a:r>
                <a:rPr lang="en-US" sz="1400">
                  <a:solidFill>
                    <a:schemeClr val="bg1">
                      <a:lumMod val="95000"/>
                      <a:lumOff val="5000"/>
                    </a:schemeClr>
                  </a:solidFill>
                  <a:latin typeface="Aptos Display" panose="020B0004020202020204" pitchFamily="34" charset="0"/>
                </a:rPr>
                <a:t>Effective for binary outcomes such as </a:t>
              </a:r>
              <a:r>
                <a:rPr lang="en-US" sz="1400" i="1">
                  <a:solidFill>
                    <a:schemeClr val="bg1">
                      <a:lumMod val="95000"/>
                      <a:lumOff val="5000"/>
                    </a:schemeClr>
                  </a:solidFill>
                  <a:latin typeface="Aptos Display" panose="020B0004020202020204" pitchFamily="34" charset="0"/>
                </a:rPr>
                <a:t>Recovered / Not Recovered</a:t>
              </a:r>
              <a:endParaRPr lang="en-US" sz="1400">
                <a:solidFill>
                  <a:schemeClr val="bg1">
                    <a:lumMod val="95000"/>
                    <a:lumOff val="5000"/>
                  </a:schemeClr>
                </a:solidFill>
                <a:latin typeface="Aptos Display" panose="020B0004020202020204" pitchFamily="34" charset="0"/>
              </a:endParaRPr>
            </a:p>
            <a:p>
              <a:pPr marL="285750" indent="-285750">
                <a:buFont typeface="Wingdings" panose="05000000000000000000" pitchFamily="2" charset="2"/>
                <a:buChar char="v"/>
              </a:pPr>
              <a:r>
                <a:rPr lang="en-US" sz="1400">
                  <a:solidFill>
                    <a:schemeClr val="bg1">
                      <a:lumMod val="95000"/>
                      <a:lumOff val="5000"/>
                    </a:schemeClr>
                  </a:solidFill>
                  <a:latin typeface="Aptos Display" panose="020B0004020202020204" pitchFamily="34" charset="0"/>
                </a:rPr>
                <a:t>Works well with well-selected features</a:t>
              </a:r>
            </a:p>
          </p:txBody>
        </p:sp>
      </p:grpSp>
      <p:sp>
        <p:nvSpPr>
          <p:cNvPr id="15" name="TextBox 14">
            <a:extLst>
              <a:ext uri="{FF2B5EF4-FFF2-40B4-BE49-F238E27FC236}">
                <a16:creationId xmlns:a16="http://schemas.microsoft.com/office/drawing/2014/main" id="{0A48D60B-A8F4-CC10-FAD4-8D70BD1B6D39}"/>
              </a:ext>
            </a:extLst>
          </p:cNvPr>
          <p:cNvSpPr txBox="1"/>
          <p:nvPr/>
        </p:nvSpPr>
        <p:spPr>
          <a:xfrm>
            <a:off x="1151620" y="4788847"/>
            <a:ext cx="4176464" cy="400110"/>
          </a:xfrm>
          <a:prstGeom prst="rect">
            <a:avLst/>
          </a:prstGeom>
          <a:noFill/>
        </p:spPr>
        <p:txBody>
          <a:bodyPr wrap="square" rtlCol="0">
            <a:spAutoFit/>
          </a:bodyPr>
          <a:lstStyle/>
          <a:p>
            <a:r>
              <a:rPr lang="en-US" sz="2000" b="1">
                <a:latin typeface="Poppins" panose="00000500000000000000" pitchFamily="2" charset="0"/>
                <a:cs typeface="Poppins" panose="00000500000000000000" pitchFamily="2" charset="0"/>
              </a:rPr>
              <a:t>Regression Model</a:t>
            </a:r>
          </a:p>
        </p:txBody>
      </p:sp>
      <p:pic>
        <p:nvPicPr>
          <p:cNvPr id="17" name="Graphic 16" descr="Bar graph with upward trend with solid fill">
            <a:extLst>
              <a:ext uri="{FF2B5EF4-FFF2-40B4-BE49-F238E27FC236}">
                <a16:creationId xmlns:a16="http://schemas.microsoft.com/office/drawing/2014/main" id="{A45FD247-6BB9-80D7-D9CD-04EBFD3B62B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70011" y="4613592"/>
            <a:ext cx="673597" cy="673597"/>
          </a:xfrm>
          <a:prstGeom prst="rect">
            <a:avLst/>
          </a:prstGeom>
        </p:spPr>
      </p:pic>
      <p:sp>
        <p:nvSpPr>
          <p:cNvPr id="18" name="Rectangle: Diagonal Corners Rounded 17">
            <a:extLst>
              <a:ext uri="{FF2B5EF4-FFF2-40B4-BE49-F238E27FC236}">
                <a16:creationId xmlns:a16="http://schemas.microsoft.com/office/drawing/2014/main" id="{87148F2C-4B33-FD73-A83E-24A160AFB29D}"/>
              </a:ext>
            </a:extLst>
          </p:cNvPr>
          <p:cNvSpPr/>
          <p:nvPr/>
        </p:nvSpPr>
        <p:spPr>
          <a:xfrm>
            <a:off x="1133618" y="5392607"/>
            <a:ext cx="6667559" cy="1016615"/>
          </a:xfrm>
          <a:prstGeom prst="round2DiagRect">
            <a:avLst>
              <a:gd name="adj1" fmla="val 16667"/>
              <a:gd name="adj2" fmla="val 1386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8720580-4C0D-4A50-B357-E8A95BBC10B7}"/>
              </a:ext>
            </a:extLst>
          </p:cNvPr>
          <p:cNvSpPr txBox="1"/>
          <p:nvPr/>
        </p:nvSpPr>
        <p:spPr>
          <a:xfrm>
            <a:off x="1889702" y="5395457"/>
            <a:ext cx="5760640" cy="1292662"/>
          </a:xfrm>
          <a:prstGeom prst="rect">
            <a:avLst/>
          </a:prstGeom>
          <a:noFill/>
        </p:spPr>
        <p:txBody>
          <a:bodyPr wrap="square" rtlCol="0">
            <a:spAutoFit/>
          </a:bodyPr>
          <a:lstStyle/>
          <a:p>
            <a:r>
              <a:rPr lang="en-US" b="1">
                <a:solidFill>
                  <a:schemeClr val="bg1">
                    <a:lumMod val="95000"/>
                    <a:lumOff val="5000"/>
                  </a:schemeClr>
                </a:solidFill>
                <a:latin typeface="Bahnschrift Light SemiCondensed" panose="020B0502040204020203" pitchFamily="34" charset="0"/>
              </a:rPr>
              <a:t>Random Forest Regressor </a:t>
            </a:r>
            <a:endParaRPr lang="en-US">
              <a:solidFill>
                <a:schemeClr val="bg1">
                  <a:lumMod val="95000"/>
                  <a:lumOff val="5000"/>
                </a:schemeClr>
              </a:solidFill>
            </a:endParaRPr>
          </a:p>
          <a:p>
            <a:pPr marL="285750" indent="-285750">
              <a:buFont typeface="Wingdings" panose="05000000000000000000" pitchFamily="2" charset="2"/>
              <a:buChar char="v"/>
            </a:pPr>
            <a:r>
              <a:rPr lang="en-US" sz="1400">
                <a:solidFill>
                  <a:schemeClr val="bg1">
                    <a:lumMod val="95000"/>
                    <a:lumOff val="5000"/>
                  </a:schemeClr>
                </a:solidFill>
                <a:latin typeface="Aptos Display" panose="020B0004020202020204" pitchFamily="34" charset="0"/>
              </a:rPr>
              <a:t>Predicts the number of days required for patient recovery</a:t>
            </a:r>
          </a:p>
          <a:p>
            <a:pPr marL="285750" indent="-285750">
              <a:buFont typeface="Wingdings" panose="05000000000000000000" pitchFamily="2" charset="2"/>
              <a:buChar char="v"/>
            </a:pPr>
            <a:r>
              <a:rPr lang="en-US" sz="1400">
                <a:solidFill>
                  <a:schemeClr val="bg1">
                    <a:lumMod val="95000"/>
                    <a:lumOff val="5000"/>
                  </a:schemeClr>
                </a:solidFill>
                <a:latin typeface="Aptos Display" panose="020B0004020202020204" pitchFamily="34" charset="0"/>
              </a:rPr>
              <a:t>Captures non-linear relationships between health parameters</a:t>
            </a:r>
          </a:p>
          <a:p>
            <a:pPr marL="285750" indent="-285750">
              <a:buFont typeface="Wingdings" panose="05000000000000000000" pitchFamily="2" charset="2"/>
              <a:buChar char="v"/>
            </a:pPr>
            <a:r>
              <a:rPr lang="en-US" sz="1400">
                <a:solidFill>
                  <a:schemeClr val="bg1">
                    <a:lumMod val="95000"/>
                    <a:lumOff val="5000"/>
                  </a:schemeClr>
                </a:solidFill>
                <a:latin typeface="Aptos Display" panose="020B0004020202020204" pitchFamily="34" charset="0"/>
              </a:rPr>
              <a:t>Robust to noise and performs well on real-world healthcare data</a:t>
            </a:r>
          </a:p>
          <a:p>
            <a:endParaRPr lang="en-US">
              <a:solidFill>
                <a:schemeClr val="bg1">
                  <a:lumMod val="95000"/>
                  <a:lumOff val="5000"/>
                </a:schemeClr>
              </a:solidFill>
            </a:endParaRPr>
          </a:p>
        </p:txBody>
      </p:sp>
    </p:spTree>
    <p:extLst>
      <p:ext uri="{BB962C8B-B14F-4D97-AF65-F5344CB8AC3E}">
        <p14:creationId xmlns:p14="http://schemas.microsoft.com/office/powerpoint/2010/main" val="571595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89425" y="206931"/>
            <a:ext cx="5112568" cy="707886"/>
          </a:xfrm>
          <a:prstGeom prst="rect">
            <a:avLst/>
          </a:prstGeom>
          <a:noFill/>
        </p:spPr>
        <p:txBody>
          <a:bodyPr wrap="square" rtlCol="0">
            <a:spAutoFit/>
          </a:bodyPr>
          <a:lstStyle/>
          <a:p>
            <a:pPr algn="ctr"/>
            <a:r>
              <a:rPr lang="en-IN" sz="4000" b="1">
                <a:latin typeface="Lora" pitchFamily="2" charset="0"/>
              </a:rPr>
              <a:t>Disease Prediction </a:t>
            </a:r>
          </a:p>
        </p:txBody>
      </p:sp>
      <p:pic>
        <p:nvPicPr>
          <p:cNvPr id="5" name="Picture 4">
            <a:extLst>
              <a:ext uri="{FF2B5EF4-FFF2-40B4-BE49-F238E27FC236}">
                <a16:creationId xmlns:a16="http://schemas.microsoft.com/office/drawing/2014/main" id="{A4A841E2-F47B-4E86-E7C4-7BDA3C9C95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9365" y="836712"/>
            <a:ext cx="6192688" cy="4891629"/>
          </a:xfrm>
          <a:prstGeom prst="rect">
            <a:avLst/>
          </a:prstGeom>
        </p:spPr>
      </p:pic>
      <p:sp>
        <p:nvSpPr>
          <p:cNvPr id="6" name="TextBox 5">
            <a:extLst>
              <a:ext uri="{FF2B5EF4-FFF2-40B4-BE49-F238E27FC236}">
                <a16:creationId xmlns:a16="http://schemas.microsoft.com/office/drawing/2014/main" id="{B4C35AC8-8DD5-D4EE-F49E-893B5EF02744}"/>
              </a:ext>
            </a:extLst>
          </p:cNvPr>
          <p:cNvSpPr txBox="1"/>
          <p:nvPr/>
        </p:nvSpPr>
        <p:spPr>
          <a:xfrm>
            <a:off x="251520" y="1700808"/>
            <a:ext cx="3456384" cy="954107"/>
          </a:xfrm>
          <a:prstGeom prst="rect">
            <a:avLst/>
          </a:prstGeom>
          <a:noFill/>
        </p:spPr>
        <p:txBody>
          <a:bodyPr wrap="square" rtlCol="0">
            <a:spAutoFit/>
          </a:bodyPr>
          <a:lstStyle/>
          <a:p>
            <a:r>
              <a:rPr lang="en-US" sz="1400">
                <a:solidFill>
                  <a:srgbClr val="00B0F0"/>
                </a:solidFill>
                <a:latin typeface="Poppins" panose="00000500000000000000" pitchFamily="2" charset="0"/>
                <a:cs typeface="Poppins" panose="00000500000000000000" pitchFamily="2" charset="0"/>
              </a:rPr>
              <a:t>Machine learning models analyze patient vitals, lifestyle, and medical history to predict diseases accurately.</a:t>
            </a:r>
          </a:p>
        </p:txBody>
      </p:sp>
      <p:sp>
        <p:nvSpPr>
          <p:cNvPr id="7" name="TextBox 6">
            <a:extLst>
              <a:ext uri="{FF2B5EF4-FFF2-40B4-BE49-F238E27FC236}">
                <a16:creationId xmlns:a16="http://schemas.microsoft.com/office/drawing/2014/main" id="{A23213AB-0A96-7B19-EDD1-7B33B54C299C}"/>
              </a:ext>
            </a:extLst>
          </p:cNvPr>
          <p:cNvSpPr txBox="1"/>
          <p:nvPr/>
        </p:nvSpPr>
        <p:spPr>
          <a:xfrm>
            <a:off x="5580112" y="3282526"/>
            <a:ext cx="2754300" cy="954107"/>
          </a:xfrm>
          <a:prstGeom prst="rect">
            <a:avLst/>
          </a:prstGeom>
          <a:noFill/>
        </p:spPr>
        <p:txBody>
          <a:bodyPr wrap="square" rtlCol="0">
            <a:spAutoFit/>
          </a:bodyPr>
          <a:lstStyle/>
          <a:p>
            <a:r>
              <a:rPr lang="en-US" sz="1400">
                <a:solidFill>
                  <a:srgbClr val="92D050"/>
                </a:solidFill>
                <a:latin typeface="Poppins" panose="00000500000000000000" pitchFamily="2" charset="0"/>
                <a:cs typeface="Poppins" panose="00000500000000000000" pitchFamily="2" charset="0"/>
              </a:rPr>
              <a:t>Early disease prediction helps doctors take timely preventive and treatment actions.</a:t>
            </a:r>
          </a:p>
        </p:txBody>
      </p:sp>
      <p:sp>
        <p:nvSpPr>
          <p:cNvPr id="8" name="TextBox 7">
            <a:extLst>
              <a:ext uri="{FF2B5EF4-FFF2-40B4-BE49-F238E27FC236}">
                <a16:creationId xmlns:a16="http://schemas.microsoft.com/office/drawing/2014/main" id="{D193922D-A5A1-1795-6F5E-884F1C2FD2F3}"/>
              </a:ext>
            </a:extLst>
          </p:cNvPr>
          <p:cNvSpPr txBox="1"/>
          <p:nvPr/>
        </p:nvSpPr>
        <p:spPr>
          <a:xfrm>
            <a:off x="5004048" y="4800638"/>
            <a:ext cx="3663257" cy="738664"/>
          </a:xfrm>
          <a:prstGeom prst="rect">
            <a:avLst/>
          </a:prstGeom>
          <a:noFill/>
        </p:spPr>
        <p:txBody>
          <a:bodyPr wrap="square" rtlCol="0">
            <a:spAutoFit/>
          </a:bodyPr>
          <a:lstStyle/>
          <a:p>
            <a:r>
              <a:rPr lang="en-US" sz="1400" b="1">
                <a:solidFill>
                  <a:srgbClr val="6600FF"/>
                </a:solidFill>
                <a:latin typeface="Poppins" panose="00000500000000000000" pitchFamily="2" charset="0"/>
                <a:cs typeface="Poppins" panose="00000500000000000000" pitchFamily="2" charset="0"/>
              </a:rPr>
              <a:t>Top 3 disease prediction</a:t>
            </a:r>
            <a:r>
              <a:rPr lang="en-US" sz="1400">
                <a:solidFill>
                  <a:srgbClr val="6600FF"/>
                </a:solidFill>
                <a:latin typeface="Poppins" panose="00000500000000000000" pitchFamily="2" charset="0"/>
                <a:cs typeface="Poppins" panose="00000500000000000000" pitchFamily="2" charset="0"/>
              </a:rPr>
              <a:t> identifies the most probable diseases for a patient based on risk factors.</a:t>
            </a:r>
          </a:p>
        </p:txBody>
      </p:sp>
      <p:sp>
        <p:nvSpPr>
          <p:cNvPr id="9" name="TextBox 8">
            <a:extLst>
              <a:ext uri="{FF2B5EF4-FFF2-40B4-BE49-F238E27FC236}">
                <a16:creationId xmlns:a16="http://schemas.microsoft.com/office/drawing/2014/main" id="{E305FAEE-772A-DDB5-4291-3F017520FA1B}"/>
              </a:ext>
            </a:extLst>
          </p:cNvPr>
          <p:cNvSpPr txBox="1"/>
          <p:nvPr/>
        </p:nvSpPr>
        <p:spPr>
          <a:xfrm>
            <a:off x="6638528" y="1617699"/>
            <a:ext cx="2520280" cy="954107"/>
          </a:xfrm>
          <a:prstGeom prst="rect">
            <a:avLst/>
          </a:prstGeom>
          <a:noFill/>
        </p:spPr>
        <p:txBody>
          <a:bodyPr wrap="square" rtlCol="0">
            <a:spAutoFit/>
          </a:bodyPr>
          <a:lstStyle/>
          <a:p>
            <a:r>
              <a:rPr lang="en-US" sz="1400">
                <a:solidFill>
                  <a:srgbClr val="FFFF00"/>
                </a:solidFill>
                <a:latin typeface="Poppins" panose="00000500000000000000" pitchFamily="2" charset="0"/>
                <a:cs typeface="Poppins" panose="00000500000000000000" pitchFamily="2" charset="0"/>
              </a:rPr>
              <a:t>Automated prediction reduces manual effort and supports faster clinical decision-making.</a:t>
            </a:r>
          </a:p>
        </p:txBody>
      </p:sp>
      <p:sp>
        <p:nvSpPr>
          <p:cNvPr id="10" name="TextBox 9">
            <a:extLst>
              <a:ext uri="{FF2B5EF4-FFF2-40B4-BE49-F238E27FC236}">
                <a16:creationId xmlns:a16="http://schemas.microsoft.com/office/drawing/2014/main" id="{285FC9C2-661D-B449-2696-EE74DED997CE}"/>
              </a:ext>
            </a:extLst>
          </p:cNvPr>
          <p:cNvSpPr txBox="1"/>
          <p:nvPr/>
        </p:nvSpPr>
        <p:spPr>
          <a:xfrm>
            <a:off x="165485" y="3140968"/>
            <a:ext cx="2592288" cy="954107"/>
          </a:xfrm>
          <a:prstGeom prst="rect">
            <a:avLst/>
          </a:prstGeom>
          <a:noFill/>
        </p:spPr>
        <p:txBody>
          <a:bodyPr wrap="square" rtlCol="0">
            <a:spAutoFit/>
          </a:bodyPr>
          <a:lstStyle/>
          <a:p>
            <a:r>
              <a:rPr lang="en-US" sz="1400">
                <a:solidFill>
                  <a:srgbClr val="00B050"/>
                </a:solidFill>
                <a:latin typeface="Poppins" panose="00000500000000000000" pitchFamily="2" charset="0"/>
                <a:cs typeface="Poppins" panose="00000500000000000000" pitchFamily="2" charset="0"/>
              </a:rPr>
              <a:t>Data-driven disease prediction improves diagnosis accuracy and overall patient outcomes.</a:t>
            </a:r>
          </a:p>
        </p:txBody>
      </p:sp>
    </p:spTree>
    <p:extLst>
      <p:ext uri="{BB962C8B-B14F-4D97-AF65-F5344CB8AC3E}">
        <p14:creationId xmlns:p14="http://schemas.microsoft.com/office/powerpoint/2010/main" val="3573580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03648" y="209478"/>
            <a:ext cx="6499971" cy="707886"/>
          </a:xfrm>
          <a:prstGeom prst="rect">
            <a:avLst/>
          </a:prstGeom>
          <a:noFill/>
        </p:spPr>
        <p:txBody>
          <a:bodyPr wrap="square" rtlCol="0">
            <a:spAutoFit/>
          </a:bodyPr>
          <a:lstStyle/>
          <a:p>
            <a:pPr algn="ctr"/>
            <a:r>
              <a:rPr lang="en-IN" sz="4000" b="1">
                <a:latin typeface="Lora" pitchFamily="2" charset="0"/>
              </a:rPr>
              <a:t>Health Risk Assessment</a:t>
            </a:r>
          </a:p>
        </p:txBody>
      </p:sp>
      <p:sp>
        <p:nvSpPr>
          <p:cNvPr id="3" name="TextBox 2"/>
          <p:cNvSpPr txBox="1"/>
          <p:nvPr/>
        </p:nvSpPr>
        <p:spPr>
          <a:xfrm>
            <a:off x="1259632" y="1268760"/>
            <a:ext cx="7884368" cy="2062103"/>
          </a:xfrm>
          <a:prstGeom prst="rect">
            <a:avLst/>
          </a:prstGeom>
          <a:noFill/>
        </p:spPr>
        <p:txBody>
          <a:bodyPr wrap="square" rtlCol="0">
            <a:spAutoFit/>
          </a:bodyPr>
          <a:lstStyle/>
          <a:p>
            <a:pPr marL="457200" indent="-457200">
              <a:buFont typeface="Arial" pitchFamily="34" charset="0"/>
              <a:buChar char="•"/>
            </a:pPr>
            <a:r>
              <a:rPr lang="en-US" sz="2800"/>
              <a:t>Health risk calculated using:</a:t>
            </a:r>
          </a:p>
          <a:p>
            <a:endParaRPr lang="en-US" sz="2800"/>
          </a:p>
          <a:p>
            <a:pPr marL="342900" indent="-342900">
              <a:buFont typeface="Wingdings" pitchFamily="2" charset="2"/>
              <a:buChar char="Ø"/>
            </a:pPr>
            <a:r>
              <a:rPr lang="en-US">
                <a:latin typeface="Poppins" panose="00000500000000000000" pitchFamily="2" charset="0"/>
                <a:cs typeface="Poppins" panose="00000500000000000000" pitchFamily="2" charset="0"/>
              </a:rPr>
              <a:t>  Blood Pressure</a:t>
            </a:r>
          </a:p>
          <a:p>
            <a:pPr marL="457200" indent="-457200">
              <a:buFont typeface="Wingdings" pitchFamily="2" charset="2"/>
              <a:buChar char="Ø"/>
            </a:pPr>
            <a:r>
              <a:rPr lang="en-US">
                <a:latin typeface="Poppins" panose="00000500000000000000" pitchFamily="2" charset="0"/>
                <a:cs typeface="Poppins" panose="00000500000000000000" pitchFamily="2" charset="0"/>
              </a:rPr>
              <a:t>Sugar level</a:t>
            </a:r>
          </a:p>
          <a:p>
            <a:pPr marL="457200" indent="-457200">
              <a:buFont typeface="Wingdings" pitchFamily="2" charset="2"/>
              <a:buChar char="Ø"/>
            </a:pPr>
            <a:r>
              <a:rPr lang="en-US">
                <a:latin typeface="Poppins" panose="00000500000000000000" pitchFamily="2" charset="0"/>
                <a:cs typeface="Poppins" panose="00000500000000000000" pitchFamily="2" charset="0"/>
              </a:rPr>
              <a:t>Cholesterol</a:t>
            </a:r>
          </a:p>
          <a:p>
            <a:pPr marL="457200" indent="-457200">
              <a:buFont typeface="Wingdings" pitchFamily="2" charset="2"/>
              <a:buChar char="Ø"/>
            </a:pPr>
            <a:r>
              <a:rPr lang="en-US">
                <a:latin typeface="Poppins" panose="00000500000000000000" pitchFamily="2" charset="0"/>
                <a:cs typeface="Poppins" panose="00000500000000000000" pitchFamily="2" charset="0"/>
              </a:rPr>
              <a:t>Age</a:t>
            </a:r>
            <a:endParaRPr lang="en-US" sz="2000">
              <a:latin typeface="Poppins" panose="00000500000000000000" pitchFamily="2" charset="0"/>
              <a:cs typeface="Poppins" panose="00000500000000000000" pitchFamily="2" charset="0"/>
            </a:endParaRPr>
          </a:p>
        </p:txBody>
      </p:sp>
      <p:sp>
        <p:nvSpPr>
          <p:cNvPr id="4" name="TextBox 3"/>
          <p:cNvSpPr txBox="1"/>
          <p:nvPr/>
        </p:nvSpPr>
        <p:spPr>
          <a:xfrm>
            <a:off x="1278883" y="3356992"/>
            <a:ext cx="6624736" cy="1785104"/>
          </a:xfrm>
          <a:prstGeom prst="rect">
            <a:avLst/>
          </a:prstGeom>
          <a:noFill/>
        </p:spPr>
        <p:txBody>
          <a:bodyPr wrap="square" rtlCol="0">
            <a:spAutoFit/>
          </a:bodyPr>
          <a:lstStyle/>
          <a:p>
            <a:pPr marL="457200" indent="-457200">
              <a:buFont typeface="Arial" pitchFamily="34" charset="0"/>
              <a:buChar char="•"/>
            </a:pPr>
            <a:r>
              <a:rPr lang="en-US" sz="2800"/>
              <a:t>Risk categories:</a:t>
            </a:r>
          </a:p>
          <a:p>
            <a:endParaRPr lang="en-US" sz="2800"/>
          </a:p>
          <a:p>
            <a:pPr marL="457200" indent="-457200">
              <a:buFont typeface="Wingdings" pitchFamily="2" charset="2"/>
              <a:buChar char="Ø"/>
            </a:pPr>
            <a:r>
              <a:rPr lang="en-US">
                <a:latin typeface="Poppins" panose="00000500000000000000" pitchFamily="2" charset="0"/>
                <a:cs typeface="Poppins" panose="00000500000000000000" pitchFamily="2" charset="0"/>
              </a:rPr>
              <a:t>Low Risk</a:t>
            </a:r>
          </a:p>
          <a:p>
            <a:pPr marL="457200" indent="-457200">
              <a:buFont typeface="Wingdings" pitchFamily="2" charset="2"/>
              <a:buChar char="Ø"/>
            </a:pPr>
            <a:r>
              <a:rPr lang="en-US">
                <a:latin typeface="Poppins" panose="00000500000000000000" pitchFamily="2" charset="0"/>
                <a:cs typeface="Poppins" panose="00000500000000000000" pitchFamily="2" charset="0"/>
              </a:rPr>
              <a:t>Medium Risk</a:t>
            </a:r>
          </a:p>
          <a:p>
            <a:pPr marL="457200" indent="-457200">
              <a:buFont typeface="Wingdings" pitchFamily="2" charset="2"/>
              <a:buChar char="Ø"/>
            </a:pPr>
            <a:r>
              <a:rPr lang="en-US">
                <a:latin typeface="Poppins" panose="00000500000000000000" pitchFamily="2" charset="0"/>
                <a:cs typeface="Poppins" panose="00000500000000000000" pitchFamily="2" charset="0"/>
              </a:rPr>
              <a:t>High Risk</a:t>
            </a:r>
          </a:p>
        </p:txBody>
      </p:sp>
      <p:sp>
        <p:nvSpPr>
          <p:cNvPr id="5" name="TextBox 4"/>
          <p:cNvSpPr txBox="1"/>
          <p:nvPr/>
        </p:nvSpPr>
        <p:spPr>
          <a:xfrm>
            <a:off x="1310212" y="5132224"/>
            <a:ext cx="6408712" cy="523220"/>
          </a:xfrm>
          <a:prstGeom prst="rect">
            <a:avLst/>
          </a:prstGeom>
          <a:noFill/>
        </p:spPr>
        <p:txBody>
          <a:bodyPr wrap="square" rtlCol="0">
            <a:spAutoFit/>
          </a:bodyPr>
          <a:lstStyle/>
          <a:p>
            <a:pPr marL="342900" indent="-342900">
              <a:buFont typeface="Arial" pitchFamily="34" charset="0"/>
              <a:buChar char="•"/>
            </a:pPr>
            <a:r>
              <a:rPr lang="en-US" sz="2800"/>
              <a:t>Helps in early warning of critical patients</a:t>
            </a:r>
            <a:endParaRPr lang="en-IN" sz="2800"/>
          </a:p>
        </p:txBody>
      </p:sp>
    </p:spTree>
    <p:extLst>
      <p:ext uri="{BB962C8B-B14F-4D97-AF65-F5344CB8AC3E}">
        <p14:creationId xmlns:p14="http://schemas.microsoft.com/office/powerpoint/2010/main" val="3245342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67744" y="260648"/>
            <a:ext cx="4464496" cy="707886"/>
          </a:xfrm>
          <a:prstGeom prst="rect">
            <a:avLst/>
          </a:prstGeom>
          <a:noFill/>
        </p:spPr>
        <p:txBody>
          <a:bodyPr wrap="square" rtlCol="0">
            <a:spAutoFit/>
          </a:bodyPr>
          <a:lstStyle/>
          <a:p>
            <a:pPr algn="ctr"/>
            <a:r>
              <a:rPr lang="en-IN" sz="4000" b="1">
                <a:latin typeface="Lora" pitchFamily="2" charset="0"/>
              </a:rPr>
              <a:t>System Output</a:t>
            </a:r>
          </a:p>
        </p:txBody>
      </p:sp>
      <p:pic>
        <p:nvPicPr>
          <p:cNvPr id="5" name="Picture 4">
            <a:extLst>
              <a:ext uri="{FF2B5EF4-FFF2-40B4-BE49-F238E27FC236}">
                <a16:creationId xmlns:a16="http://schemas.microsoft.com/office/drawing/2014/main" id="{8F52EE0E-B88F-28B0-C243-338500193B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5757" y="1124743"/>
            <a:ext cx="7592485" cy="4900181"/>
          </a:xfrm>
          <a:prstGeom prst="rect">
            <a:avLst/>
          </a:prstGeom>
        </p:spPr>
      </p:pic>
    </p:spTree>
    <p:extLst>
      <p:ext uri="{BB962C8B-B14F-4D97-AF65-F5344CB8AC3E}">
        <p14:creationId xmlns:p14="http://schemas.microsoft.com/office/powerpoint/2010/main" val="3020371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91680" y="188640"/>
            <a:ext cx="5760640" cy="707886"/>
          </a:xfrm>
          <a:prstGeom prst="rect">
            <a:avLst/>
          </a:prstGeom>
          <a:noFill/>
        </p:spPr>
        <p:txBody>
          <a:bodyPr wrap="square" rtlCol="0">
            <a:spAutoFit/>
          </a:bodyPr>
          <a:lstStyle/>
          <a:p>
            <a:pPr algn="ctr"/>
            <a:r>
              <a:rPr lang="en-IN" sz="4000" b="1">
                <a:latin typeface="Lora" pitchFamily="2" charset="0"/>
              </a:rPr>
              <a:t>Tools &amp; Applications</a:t>
            </a:r>
          </a:p>
        </p:txBody>
      </p:sp>
      <p:pic>
        <p:nvPicPr>
          <p:cNvPr id="5" name="Picture 4">
            <a:extLst>
              <a:ext uri="{FF2B5EF4-FFF2-40B4-BE49-F238E27FC236}">
                <a16:creationId xmlns:a16="http://schemas.microsoft.com/office/drawing/2014/main" id="{C723CBDD-CC87-F128-146B-435348DD30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896526"/>
            <a:ext cx="8568951" cy="5916850"/>
          </a:xfrm>
          <a:prstGeom prst="rect">
            <a:avLst/>
          </a:prstGeom>
        </p:spPr>
      </p:pic>
    </p:spTree>
    <p:extLst>
      <p:ext uri="{BB962C8B-B14F-4D97-AF65-F5344CB8AC3E}">
        <p14:creationId xmlns:p14="http://schemas.microsoft.com/office/powerpoint/2010/main" val="33125950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5556" y="260648"/>
            <a:ext cx="7992888" cy="707886"/>
          </a:xfrm>
          <a:prstGeom prst="rect">
            <a:avLst/>
          </a:prstGeom>
          <a:noFill/>
        </p:spPr>
        <p:txBody>
          <a:bodyPr wrap="square" rtlCol="0">
            <a:spAutoFit/>
          </a:bodyPr>
          <a:lstStyle/>
          <a:p>
            <a:pPr algn="ctr"/>
            <a:r>
              <a:rPr lang="en-IN" sz="4000" b="1">
                <a:latin typeface="Lora" pitchFamily="2" charset="0"/>
              </a:rPr>
              <a:t>Conclusion &amp; Future Scope</a:t>
            </a:r>
          </a:p>
        </p:txBody>
      </p:sp>
      <p:sp>
        <p:nvSpPr>
          <p:cNvPr id="3" name="TextBox 2"/>
          <p:cNvSpPr txBox="1"/>
          <p:nvPr/>
        </p:nvSpPr>
        <p:spPr>
          <a:xfrm>
            <a:off x="1115616" y="1196752"/>
            <a:ext cx="7848872" cy="3847207"/>
          </a:xfrm>
          <a:prstGeom prst="rect">
            <a:avLst/>
          </a:prstGeom>
          <a:noFill/>
        </p:spPr>
        <p:txBody>
          <a:bodyPr wrap="square" rtlCol="0">
            <a:spAutoFit/>
          </a:bodyPr>
          <a:lstStyle/>
          <a:p>
            <a:pPr marL="457200" indent="-457200">
              <a:buFont typeface="Wingdings" panose="05000000000000000000" pitchFamily="2" charset="2"/>
              <a:buChar char="q"/>
            </a:pPr>
            <a:r>
              <a:rPr lang="en-US" sz="2400"/>
              <a:t>Successfully developed ML-based Health Assistant</a:t>
            </a:r>
          </a:p>
          <a:p>
            <a:pPr marL="457200" indent="-457200">
              <a:buFont typeface="Wingdings" panose="05000000000000000000" pitchFamily="2" charset="2"/>
              <a:buChar char="q"/>
            </a:pPr>
            <a:r>
              <a:rPr lang="en-US" sz="2400"/>
              <a:t>Demonstrates practical ML application in healthcare</a:t>
            </a:r>
          </a:p>
          <a:p>
            <a:pPr marL="457200" indent="-457200">
              <a:buFont typeface="Wingdings" panose="05000000000000000000" pitchFamily="2" charset="2"/>
              <a:buChar char="q"/>
            </a:pPr>
            <a:r>
              <a:rPr lang="en-US" sz="2400"/>
              <a:t>Provides valuable health insights</a:t>
            </a:r>
          </a:p>
          <a:p>
            <a:pPr marL="457200" indent="-457200">
              <a:buFont typeface="Wingdings" panose="05000000000000000000" pitchFamily="2" charset="2"/>
              <a:buChar char="q"/>
            </a:pPr>
            <a:r>
              <a:rPr lang="en-US" sz="2400"/>
              <a:t>Can support medical professionals effectively</a:t>
            </a:r>
          </a:p>
          <a:p>
            <a:endParaRPr lang="en-US" sz="2400"/>
          </a:p>
          <a:p>
            <a:r>
              <a:rPr lang="en-IN" sz="2800" b="1">
                <a:latin typeface="Poppins" panose="00000500000000000000" pitchFamily="2" charset="0"/>
                <a:cs typeface="Poppins" panose="00000500000000000000" pitchFamily="2" charset="0"/>
              </a:rPr>
              <a:t>Future Scope:</a:t>
            </a:r>
          </a:p>
          <a:p>
            <a:pPr marL="342900" indent="-342900">
              <a:buFont typeface="Arial" pitchFamily="34" charset="0"/>
              <a:buChar char="•"/>
            </a:pPr>
            <a:r>
              <a:rPr lang="en-US" sz="2400"/>
              <a:t>Use real-time hospital data</a:t>
            </a:r>
          </a:p>
          <a:p>
            <a:pPr marL="342900" indent="-342900">
              <a:buFont typeface="Arial" pitchFamily="34" charset="0"/>
              <a:buChar char="•"/>
            </a:pPr>
            <a:r>
              <a:rPr lang="en-US" sz="2400"/>
              <a:t>Improve accuracy with advanced ML</a:t>
            </a:r>
          </a:p>
          <a:p>
            <a:pPr marL="342900" indent="-342900">
              <a:buFont typeface="Arial" pitchFamily="34" charset="0"/>
              <a:buChar char="•"/>
            </a:pPr>
            <a:r>
              <a:rPr lang="en-US" sz="2400"/>
              <a:t>Web or mobile application integration</a:t>
            </a:r>
          </a:p>
          <a:p>
            <a:pPr marL="342900" indent="-342900">
              <a:buFont typeface="Arial" pitchFamily="34" charset="0"/>
              <a:buChar char="•"/>
            </a:pPr>
            <a:endParaRPr lang="en-IN" sz="2400" b="1"/>
          </a:p>
        </p:txBody>
      </p:sp>
    </p:spTree>
    <p:extLst>
      <p:ext uri="{BB962C8B-B14F-4D97-AF65-F5344CB8AC3E}">
        <p14:creationId xmlns:p14="http://schemas.microsoft.com/office/powerpoint/2010/main" val="16667014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79712" y="2132856"/>
            <a:ext cx="5400600" cy="1015663"/>
          </a:xfrm>
          <a:prstGeom prst="rect">
            <a:avLst/>
          </a:prstGeom>
          <a:noFill/>
        </p:spPr>
        <p:txBody>
          <a:bodyPr wrap="square" rtlCol="0">
            <a:spAutoFit/>
          </a:bodyPr>
          <a:lstStyle/>
          <a:p>
            <a:pPr algn="ctr"/>
            <a:r>
              <a:rPr lang="en-IN" sz="6000"/>
              <a:t>THANK YOU</a:t>
            </a:r>
          </a:p>
        </p:txBody>
      </p:sp>
    </p:spTree>
    <p:extLst>
      <p:ext uri="{BB962C8B-B14F-4D97-AF65-F5344CB8AC3E}">
        <p14:creationId xmlns:p14="http://schemas.microsoft.com/office/powerpoint/2010/main" val="1096656065"/>
      </p:ext>
    </p:extLst>
  </p:cSld>
  <p:clrMapOvr>
    <a:masterClrMapping/>
  </p:clrMapOvr>
</p:sld>
</file>

<file path=ppt/theme/theme1.xml><?xml version="1.0" encoding="utf-8"?>
<a:theme xmlns:a="http://schemas.openxmlformats.org/drawingml/2006/main" name="Horizon">
  <a:themeElements>
    <a:clrScheme name="Horizon">
      <a:dk1>
        <a:srgbClr val="000000"/>
      </a:dk1>
      <a:lt1>
        <a:srgbClr val="FFFFFF"/>
      </a:lt1>
      <a:dk2>
        <a:srgbClr val="1F2123"/>
      </a:dk2>
      <a:lt2>
        <a:srgbClr val="DC9E1F"/>
      </a:lt2>
      <a:accent1>
        <a:srgbClr val="7E97AD"/>
      </a:accent1>
      <a:accent2>
        <a:srgbClr val="CC8E60"/>
      </a:accent2>
      <a:accent3>
        <a:srgbClr val="7A6A60"/>
      </a:accent3>
      <a:accent4>
        <a:srgbClr val="B4936D"/>
      </a:accent4>
      <a:accent5>
        <a:srgbClr val="67787B"/>
      </a:accent5>
      <a:accent6>
        <a:srgbClr val="9D936F"/>
      </a:accent6>
      <a:hlink>
        <a:srgbClr val="646464"/>
      </a:hlink>
      <a:folHlink>
        <a:srgbClr val="969696"/>
      </a:folHlink>
    </a:clrScheme>
    <a:fontScheme name="Horizon">
      <a:maj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96000"/>
                <a:shade val="100000"/>
                <a:alpha val="100000"/>
                <a:satMod val="140000"/>
              </a:schemeClr>
            </a:gs>
            <a:gs pos="31000">
              <a:schemeClr val="phClr">
                <a:tint val="100000"/>
                <a:shade val="90000"/>
                <a:alpha val="100000"/>
              </a:schemeClr>
            </a:gs>
            <a:gs pos="100000">
              <a:schemeClr val="phClr">
                <a:tint val="100000"/>
                <a:shade val="80000"/>
                <a:alpha val="100000"/>
              </a:schemeClr>
            </a:gs>
          </a:gsLst>
          <a:lin ang="5400000" scaled="0"/>
        </a:gradFill>
        <a:gradFill rotWithShape="1">
          <a:gsLst>
            <a:gs pos="0">
              <a:schemeClr val="phClr">
                <a:tint val="96000"/>
                <a:shade val="100000"/>
                <a:alpha val="100000"/>
                <a:satMod val="180000"/>
              </a:schemeClr>
            </a:gs>
            <a:gs pos="41000">
              <a:schemeClr val="phClr">
                <a:tint val="100000"/>
                <a:shade val="100000"/>
                <a:alpha val="100000"/>
                <a:satMod val="150000"/>
              </a:schemeClr>
            </a:gs>
            <a:gs pos="100000">
              <a:schemeClr val="phClr">
                <a:tint val="100000"/>
                <a:shade val="65000"/>
                <a:alpha val="100000"/>
              </a:schemeClr>
            </a:gs>
          </a:gsLst>
          <a:path path="circle">
            <a:fillToRect l="50000" t="80000" r="100000" b="10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Application>Microsoft Office PowerPoint</Application>
  <PresentationFormat>On-screen Show (4:3)</PresentationFormat>
  <Slides>15</Slides>
  <Notes>0</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Horizon</vt:lpstr>
      <vt:lpstr>Health Assistant Using Machine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 Assistant Using Machine Learning</dc:title>
  <dc:creator>Sathi Pramanik</dc:creator>
  <cp:lastModifiedBy>dipsubha2707@outlook.com</cp:lastModifiedBy>
  <cp:revision>1</cp:revision>
  <dcterms:created xsi:type="dcterms:W3CDTF">2026-02-07T13:45:35Z</dcterms:created>
  <dcterms:modified xsi:type="dcterms:W3CDTF">2026-02-08T13:12:43Z</dcterms:modified>
</cp:coreProperties>
</file>